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803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clearly: 'Review 1 was the design. Review 2 is the working database — a real MySQL implementation we've built and tested end-to-end.' That framing sets up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whole narrative in one glance — point at it and say 'everything on the right has been built and tested, not just planned.'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Vehicle/category_name example on the 3NF row is the single most important line on this slide - if asked 'prove your database is in 3NF', this is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closing line on screen almost verbatim - it's the cleanest one-sentence tie-back from FDs to 3NF you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now the LIVE, executed schema, not a draft - every line here exists in a real database you can query on the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another table's dictionary, say 'same format, in the report' and move on - don't try to recite all 11 from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six rows corresponds to a real line you can point to in the SQL file if asked to show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variety, not just the volume - the panel wants to see edge cases covered (overdue, damage, partial payment), not just row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 views map exactly to the 6 required reports from the brief - say that connection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explicitly: 'every one of these was actually tested against a running MySQL instance, not just written and assumed to work.' That single claim differentiates a strong Review 2 from an average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strong: name the achievement in one sentence (on screen) before opening the floor. Keep the rules table from slide 11 fresh in memory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2732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732520" y="2194560"/>
            <a:ext cx="2468880" cy="246888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95435" y="3342589"/>
            <a:ext cx="1543050" cy="617220"/>
          </a:xfrm>
          <a:prstGeom prst="roundRect">
            <a:avLst>
              <a:gd name="adj" fmla="val 8889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542621" y="3027807"/>
            <a:ext cx="848678" cy="524637"/>
          </a:xfrm>
          <a:prstGeom prst="roundRect">
            <a:avLst>
              <a:gd name="adj" fmla="val 8715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243578" y="3762299"/>
            <a:ext cx="320954" cy="320954"/>
          </a:xfrm>
          <a:prstGeom prst="ellipse">
            <a:avLst/>
          </a:prstGeom>
          <a:solidFill>
            <a:srgbClr val="1B24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369387" y="3762299"/>
            <a:ext cx="320954" cy="320954"/>
          </a:xfrm>
          <a:prstGeom prst="ellipse">
            <a:avLst/>
          </a:prstGeom>
          <a:solidFill>
            <a:srgbClr val="1B24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PROJECT-BASED LEARNING  •  REVIEW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Rental Reservation &amp;</a:t>
            </a:r>
            <a:endParaRPr lang="en-US" sz="3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Return Management System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 — Schema, Constraints, Queries &amp; Live Prototype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Koneri Mithul  |  Roll Number(s)-25WU0102129  |  Class &amp; Section-AIML PANTHERS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56104" y="55549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Kiran Mayee </a:t>
            </a:r>
            <a:r>
              <a:rPr lang="en-US" sz="1250" dirty="0" err="1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Adavala</a:t>
            </a: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Department of Computer Science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Design to a Working Database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Completed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Problem statement, scope &amp; objectives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Users &amp; functional requirements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 diagram — 11 entities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Initial relational schema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— New This Phase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1031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Schema normalized to 3NF, with proof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24871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MySQL DDL: PK/FK/CHECK/UNIQUE/triggers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712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60+ rows of realistic sample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325526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Joins, subqueries, aggregates &amp; 6 views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36393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Transactions (COMMIT/ROLLBACK) &amp; indexing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40233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Live, tested database — zero errors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 → 2NF → 3NF, With a Real Example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atomic, no repeating groups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has one make, one model, one status per row — no comma-separated lists.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29184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73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 attributes depend on the WHOLE key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6576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tables use a single-column surrogate key, so 2NF holds automatically once 1NF does.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489204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873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554480" y="4846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attribute depends on another non-key attribute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52578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stores category_id only — NOT category_name. category_name depends on category_id, not on vehicle_id, so it stays in VehicleCategory.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47228-9B35-833A-48D2-F880DCD27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4645"/>
            <a:ext cx="12192000" cy="665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0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Functional Dependencies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Vehicle:  vehicle_id → registration_no, category_id, branch_id, make, model, status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Customer: customer_id → full_name, phone, email, license_no, license_expiry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Rental:   rental_id → vehicle_id, customer_id, rate_plan_id, pickup_datetime, actual_return_datetime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Invoice:  invoice_id → rental_id, base_charge, extra_km_charge, late_fee, total_amount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Payment:  payment_id → invoice_id, amount, payment_mode, payment_date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above is the WHOLE primary key, and everything it determines depends on it directly — never on another non-key column. That is 3NF, applied literally.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— All 11 Tables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4709160"/>
          </a:xfrm>
          <a:prstGeom prst="roundRect">
            <a:avLst>
              <a:gd name="adj" fmla="val 1165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Branch(branch_id PK, branch_name, city, address, phone)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913206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VehicleCategory(category_id PK, category_name UK, description)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31765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Vehicle(vehicle_id PK, registration_no UK, category_id FK, branch_id FK, ..., status)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72209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Customer(customer_id PK, phone UK, email UK, license_no UK, license_expiry, ...)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126545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RatePlan(rate_plan_id PK, category_id FK, daily_rate, extra_km_rate, late_fee_per_hour)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530991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Reservation(reservation_id PK, customer_id FK, category_id FK, pickup/return_branch_id FK, ...)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935437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Rental(rental_id PK, reservation_id FK NULL, vehicle_id FK, customer_id FK, rate_plan_id FK, ...)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339883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Inspection(inspection_id PK, rental_id FK, inspection_type, odometer_reading, fuel_level_percent)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744329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Damage(damage_id PK, rental_id FK, inspection_id FK NULL, repair_cost, charged_amount)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5148775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Invoice(invoice_id PK, rental_id FK UK, base_charge, extra_km_charge, late_fee, total_amount)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555322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Payment(payment_id PK, invoice_id FK, amount, payment_mode, transaction_ref)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 — Rental (Representative)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2194560" cy="457200"/>
          </a:xfrm>
          <a:prstGeom prst="rect">
            <a:avLst/>
          </a:prstGeom>
          <a:solidFill>
            <a:srgbClr val="1B24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44368" y="1463040"/>
            <a:ext cx="1371600" cy="457200"/>
          </a:xfrm>
          <a:prstGeom prst="rect">
            <a:avLst/>
          </a:prstGeom>
          <a:solidFill>
            <a:srgbClr val="1B24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98848" y="1463040"/>
            <a:ext cx="1005840" cy="457200"/>
          </a:xfrm>
          <a:prstGeom prst="rect">
            <a:avLst/>
          </a:prstGeom>
          <a:solidFill>
            <a:srgbClr val="1B24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87568" y="1463040"/>
            <a:ext cx="1188720" cy="457200"/>
          </a:xfrm>
          <a:prstGeom prst="rect">
            <a:avLst/>
          </a:prstGeom>
          <a:solidFill>
            <a:srgbClr val="1B24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59168" y="1463040"/>
            <a:ext cx="1280160" cy="457200"/>
          </a:xfrm>
          <a:prstGeom prst="rect">
            <a:avLst/>
          </a:prstGeom>
          <a:solidFill>
            <a:srgbClr val="1B24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22208" y="1463040"/>
            <a:ext cx="3108960" cy="457200"/>
          </a:xfrm>
          <a:prstGeom prst="rect">
            <a:avLst/>
          </a:prstGeom>
          <a:solidFill>
            <a:srgbClr val="1B24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rental_id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44368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98848" y="1920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87568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59168" y="1920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AUTO_INC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22208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44368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98848" y="23774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87568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9168" y="2377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22208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 — walk-ins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44368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98848" y="2834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87568" y="2834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59168" y="2834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22208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44368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98848" y="32918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87568" y="32918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59168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22208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rate_plan_id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44368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98848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87568" y="3749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59168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22208" y="3749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pickup_datetime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44368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98848" y="4206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87568" y="4206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59168" y="4206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522208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6928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actual_return_datetime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944368" y="4663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498848" y="46634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687568" y="4663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059168" y="4663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522208" y="4663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&gt; pickup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6" name="Text 54"/>
          <p:cNvSpPr/>
          <p:nvPr/>
        </p:nvSpPr>
        <p:spPr>
          <a:xfrm>
            <a:off x="566928" y="5120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944368" y="5120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498848" y="5120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687568" y="5120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059168" y="5120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'Active'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522208" y="5120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(...)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dictionary for all 11 tables is in the project report — shown here is one representative table.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&amp; Integrity Constraints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146304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— AUTO_INCREMENT surrogate key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8600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28600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relationship, with explicit ON DELETE/UPDATE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0896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10896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registration_no, phone, email, license_no, Invoice.rental_id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3192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93192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ranges: year, odometer ≥ 0, fuel 0–100%, charges ≥ 0, date ordering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75488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/ DEFAULT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475488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fields; status defaults ('Available', 'Active', 'Booked')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57784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5778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557784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triggers — cross-row rules + automatic vehicle status sync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 Sample Data Loaded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23160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8912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21040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2104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Plans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287000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20" name="Text 18"/>
          <p:cNvSpPr/>
          <p:nvPr/>
        </p:nvSpPr>
        <p:spPr>
          <a:xfrm>
            <a:off x="1028700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2870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423160" y="29260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26" name="Text 24"/>
          <p:cNvSpPr/>
          <p:nvPr/>
        </p:nvSpPr>
        <p:spPr>
          <a:xfrm>
            <a:off x="242316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42316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89120" y="29260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38912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55080" y="29260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35508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21040" y="29260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832104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includes: available / rented / maintenance vehicles • an active rental • an overdue rental • a rental with damage • an invoice paid in two partial installments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THE 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Queries, Subqueries, Aggregation &amp; Views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0" y="15544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rental history, Invoice+Payment, Damage+Vehicle+Customer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7432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27432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Customers/vehicles above-average rental count, branches above-average revenue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3192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39319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COUNT/SUM/AVG/MIN/MAX with GROUP BY — revenue, utilization, damage cost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512064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1206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(6)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51206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Availability, Overdue Rentals, Customer History, Branch Revenue, Utilization, Damage Report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— Tested &amp; Confirmed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overlapping rentals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1627632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6276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0" y="1508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Confirmed: rejected with overlap error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0487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driving licence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2523744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52374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0" y="240487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Confirmed: rejected with expiry error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00984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00984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after pickup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3419856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41985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330098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Confirmed: rejected by CHECK constraint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97096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97096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odometer / fuel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80560" y="4315968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43159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+ Trigger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0" y="419709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Confirmed: rejected with odometer error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093208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0932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Non-negative charges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80560" y="521208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5212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0" y="509320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Confirmed: rejected by CHECK constraint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914400"/>
            <a:ext cx="1645920" cy="164592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1314450" y="1679753"/>
            <a:ext cx="1028700" cy="411480"/>
          </a:xfrm>
          <a:prstGeom prst="roundRect">
            <a:avLst>
              <a:gd name="adj" fmla="val 13333"/>
            </a:avLst>
          </a:prstGeom>
          <a:solidFill>
            <a:srgbClr val="1B2430"/>
          </a:solidFill>
          <a:ln/>
        </p:spPr>
      </p:sp>
      <p:sp>
        <p:nvSpPr>
          <p:cNvPr id="4" name="Shape 2"/>
          <p:cNvSpPr/>
          <p:nvPr/>
        </p:nvSpPr>
        <p:spPr>
          <a:xfrm>
            <a:off x="1545908" y="1469898"/>
            <a:ext cx="565785" cy="349758"/>
          </a:xfrm>
          <a:prstGeom prst="roundRect">
            <a:avLst>
              <a:gd name="adj" fmla="val 13072"/>
            </a:avLst>
          </a:prstGeom>
          <a:solidFill>
            <a:srgbClr val="1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1346545" y="1959559"/>
            <a:ext cx="213970" cy="21397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6" name="Shape 4"/>
          <p:cNvSpPr/>
          <p:nvPr/>
        </p:nvSpPr>
        <p:spPr>
          <a:xfrm>
            <a:off x="2097085" y="1959559"/>
            <a:ext cx="213970" cy="21397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2344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Database Prototype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926080" y="18288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flow: Customer → Reservation → Rental → Inspection → Damage → Invoice → Payment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8716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keys &amp; relationships (DESCRIBE / SHOW)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36392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9008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SELECT, JOIN, subquery, view — live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39312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9300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&amp; trigger rejections — shown failing on purpose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42232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9592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COMMIT and ROLLBACK, verified after each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Achieved: a normalized, constraint-enforced, tested MySQL database ready for the Review 3 application layer.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0" y="5852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1598</Words>
  <Application>Microsoft Office PowerPoint</Application>
  <PresentationFormat>Widescreen</PresentationFormat>
  <Paragraphs>209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Mithul Koneri (B.Tech_2029)</cp:lastModifiedBy>
  <cp:revision>3</cp:revision>
  <dcterms:created xsi:type="dcterms:W3CDTF">2026-09-12T06:14:33Z</dcterms:created>
  <dcterms:modified xsi:type="dcterms:W3CDTF">2026-10-06T08:11:10Z</dcterms:modified>
</cp:coreProperties>
</file>