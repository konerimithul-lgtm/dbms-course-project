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8803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clearly: 'Review 1 was the design. Review 2 is the working database — a real MySQL implementation we've built and tested end-to-end.' That framing sets up the whole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whole narrative in one glance — point at it and say 'everything on the right has been built and tested, not just planned.'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model as Review 1 - the point of this slide is 'nothing changed conceptually, we just built it for real.' Mention every FK now has explicit ON DELETE/UPDATE behavior chosen deliberately (RESTRICT for financial records, CASCADE for detail records like Inspection/Damage).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Vehicle/category_name example on the 3NF row is the single most important line on this slide - if asked 'prove your database is in 3NF', this is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closing line on screen almost verbatim - it's the cleanest one-sentence tie-back from FDs to 3NF you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now the LIVE, executed schema, not a draft - every line here exists in a real database you can query on the spot.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another table's dictionary, say 'same format, in the report' and move on - don't try to recite all 11 from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six rows corresponds to a real line you can point to in the SQL file if asked to show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variety, not just the volume - the panel wants to see edge cases covered (overdue, damage, partial payment), not just row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6 views map exactly to the 6 required reports from the brief - say that connection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explicitly: 'every one of these was actually tested against a running MySQL instance, not just written and assumed to work.' That single claim differentiates a strong Review 2 from an average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strong: name the achievement in one sentence (on screen) before opening the floor. Keep the rules table from slide 11 fresh in memory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2732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8732520" y="2194560"/>
            <a:ext cx="2468880" cy="2468880"/>
          </a:xfrm>
          <a:prstGeom prst="ellipse">
            <a:avLst/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195435" y="3342589"/>
            <a:ext cx="1543050" cy="617220"/>
          </a:xfrm>
          <a:prstGeom prst="roundRect">
            <a:avLst>
              <a:gd name="adj" fmla="val 8889"/>
            </a:avLst>
          </a:prstGeom>
          <a:solidFill>
            <a:srgbClr val="1B24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542621" y="3027807"/>
            <a:ext cx="848678" cy="524637"/>
          </a:xfrm>
          <a:prstGeom prst="roundRect">
            <a:avLst>
              <a:gd name="adj" fmla="val 8715"/>
            </a:avLst>
          </a:prstGeom>
          <a:solidFill>
            <a:srgbClr val="1B24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243578" y="3762299"/>
            <a:ext cx="320954" cy="320954"/>
          </a:xfrm>
          <a:prstGeom prst="ellipse">
            <a:avLst/>
          </a:prstGeom>
          <a:solidFill>
            <a:srgbClr val="1B24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369387" y="3762299"/>
            <a:ext cx="320954" cy="320954"/>
          </a:xfrm>
          <a:prstGeom prst="ellipse">
            <a:avLst/>
          </a:prstGeom>
          <a:solidFill>
            <a:srgbClr val="1B24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PROJECT-BASED LEARNING  •  REVIEW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Rental Reservation &amp;</a:t>
            </a:r>
            <a:endParaRPr lang="en-US" sz="3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Return Management System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Implementation — Schema, Constraints, Queries &amp; Live Prototype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0080" y="50292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Koneri Mithul  |  Roll Number(s)-25WU0102129  |  Class &amp; Section-AIML PANTHERS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56104" y="55549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Kiran Mayee </a:t>
            </a:r>
            <a:r>
              <a:rPr lang="en-US" sz="1250" dirty="0" err="1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Adavala</a:t>
            </a:r>
            <a:r>
              <a:rPr lang="en-US" sz="12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Department of Computer Science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Design to a Working Database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— Completed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Problem statement, scope &amp; objectives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Users &amp; functional requirements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ER diagram — 11 entities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Initial relational schema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1B2430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— New This Phase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21031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Schema normalized to 3NF, with proof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248716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MySQL DDL: PK/FK/CHECK/UNIQUE/triggers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287121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60+ rows of realistic sample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325526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Joins, subqueries, aggregates &amp; 6 views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363931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Transactions (COMMIT/ROLLBACK) &amp; indexing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40233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Live, tested database — zero errors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Reservation &amp; Vehicle Return Management System  |  Review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FFC107"/>
                </a:solidFill>
                <a:latin typeface="Calibri"/>
              </a:rPr>
              <a:t>CONCEPTUAL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B2430"/>
                </a:solidFill>
                <a:latin typeface="Cambria"/>
              </a:rPr>
              <a:t>Final Entity-Relationship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173736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B2430"/>
                </a:solidFill>
                <a:latin typeface="Calibri"/>
              </a:rPr>
              <a:t>Branch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143000"/>
            <a:ext cx="19202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68880" y="114300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B2430"/>
                </a:solidFill>
                <a:latin typeface="Calibri"/>
              </a:rPr>
              <a:t>Vehicle</a:t>
            </a:r>
          </a:p>
          <a:p>
            <a:pPr algn="ctr"/>
            <a:r>
              <a:rPr sz="1050" b="1" i="0">
                <a:solidFill>
                  <a:srgbClr val="1B2430"/>
                </a:solidFill>
                <a:latin typeface="Calibri"/>
              </a:rPr>
              <a:t>Category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143000"/>
            <a:ext cx="173736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11430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B2430"/>
                </a:solidFill>
                <a:latin typeface="Calibri"/>
              </a:rPr>
              <a:t>Rate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143000"/>
            <a:ext cx="1737360" cy="45720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1B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0" y="11430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B2430"/>
                </a:solidFill>
                <a:latin typeface="Calibri"/>
              </a:rPr>
              <a:t>Customer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2148840"/>
            <a:ext cx="182880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21488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B2430"/>
                </a:solidFill>
                <a:latin typeface="Calibri"/>
              </a:rPr>
              <a:t>Vehicle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148840"/>
            <a:ext cx="1920240" cy="45720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1B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06440" y="214884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B2430"/>
                </a:solidFill>
                <a:latin typeface="Calibri"/>
              </a:rPr>
              <a:t>Reservation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3154680"/>
            <a:ext cx="19202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0" y="315468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B2430"/>
                </a:solidFill>
                <a:latin typeface="Calibri"/>
              </a:rPr>
              <a:t>Rental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60520"/>
            <a:ext cx="173736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B2430"/>
                </a:solidFill>
                <a:latin typeface="Calibri"/>
              </a:rPr>
              <a:t>Inspection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4160520"/>
            <a:ext cx="16459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B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51760" y="41605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B2430"/>
                </a:solidFill>
                <a:latin typeface="Calibri"/>
              </a:rPr>
              <a:t>Damage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60520"/>
            <a:ext cx="1645920" cy="45720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1B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41605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B2430"/>
                </a:solidFill>
                <a:latin typeface="Calibri"/>
              </a:rPr>
              <a:t>Invoice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4160520"/>
            <a:ext cx="1737360" cy="45720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1B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0" y="416052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B2430"/>
                </a:solidFill>
                <a:latin typeface="Calibri"/>
              </a:rPr>
              <a:t>Payment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417320" y="1371600"/>
            <a:ext cx="685800" cy="1005840"/>
          </a:xfrm>
          <a:prstGeom prst="line">
            <a:avLst/>
          </a:prstGeom>
          <a:ln w="19050">
            <a:solidFill>
              <a:srgbClr val="AAB2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468880" y="1371600"/>
            <a:ext cx="777240" cy="1005840"/>
          </a:xfrm>
          <a:prstGeom prst="line">
            <a:avLst/>
          </a:prstGeom>
          <a:ln w="19050">
            <a:solidFill>
              <a:srgbClr val="AAB2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389120" y="1371600"/>
            <a:ext cx="365760" cy="0"/>
          </a:xfrm>
          <a:prstGeom prst="line">
            <a:avLst/>
          </a:prstGeom>
          <a:ln w="19050">
            <a:solidFill>
              <a:srgbClr val="AAB2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6766559" y="1600200"/>
            <a:ext cx="960120" cy="548640"/>
          </a:xfrm>
          <a:prstGeom prst="line">
            <a:avLst/>
          </a:prstGeom>
          <a:ln w="19050">
            <a:solidFill>
              <a:srgbClr val="AAB2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389120" y="1371600"/>
            <a:ext cx="1417320" cy="1005840"/>
          </a:xfrm>
          <a:prstGeom prst="line">
            <a:avLst/>
          </a:prstGeom>
          <a:ln w="19050">
            <a:solidFill>
              <a:srgbClr val="AAB2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03120" y="1371600"/>
            <a:ext cx="3703320" cy="1005840"/>
          </a:xfrm>
          <a:prstGeom prst="line">
            <a:avLst/>
          </a:prstGeom>
          <a:ln w="19050">
            <a:solidFill>
              <a:srgbClr val="AAB2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5577840" y="2377440"/>
            <a:ext cx="228600" cy="1005840"/>
          </a:xfrm>
          <a:prstGeom prst="line">
            <a:avLst/>
          </a:prstGeom>
          <a:ln w="19050">
            <a:solidFill>
              <a:srgbClr val="AAB2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6120" y="2377440"/>
            <a:ext cx="411480" cy="1005840"/>
          </a:xfrm>
          <a:prstGeom prst="line">
            <a:avLst/>
          </a:prstGeom>
          <a:ln w="19050">
            <a:solidFill>
              <a:srgbClr val="AAB2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5577840" y="1371600"/>
            <a:ext cx="1280160" cy="2011680"/>
          </a:xfrm>
          <a:prstGeom prst="line">
            <a:avLst/>
          </a:prstGeom>
          <a:ln w="19050">
            <a:solidFill>
              <a:srgbClr val="AAB2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4617720" y="1600200"/>
            <a:ext cx="1005840" cy="1554480"/>
          </a:xfrm>
          <a:prstGeom prst="line">
            <a:avLst/>
          </a:prstGeom>
          <a:ln w="19050">
            <a:solidFill>
              <a:srgbClr val="AAB2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2286000" y="3383280"/>
            <a:ext cx="1371600" cy="1005840"/>
          </a:xfrm>
          <a:prstGeom prst="line">
            <a:avLst/>
          </a:prstGeom>
          <a:ln w="19050">
            <a:solidFill>
              <a:srgbClr val="AAB2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57600" y="3383280"/>
            <a:ext cx="640080" cy="1005840"/>
          </a:xfrm>
          <a:prstGeom prst="line">
            <a:avLst/>
          </a:prstGeom>
          <a:ln w="19050">
            <a:solidFill>
              <a:srgbClr val="AAB2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617720" y="3611880"/>
            <a:ext cx="868680" cy="548640"/>
          </a:xfrm>
          <a:prstGeom prst="line">
            <a:avLst/>
          </a:prstGeom>
          <a:ln w="19050">
            <a:solidFill>
              <a:srgbClr val="AAB2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309359" y="4389120"/>
            <a:ext cx="365761" cy="0"/>
          </a:xfrm>
          <a:prstGeom prst="line">
            <a:avLst/>
          </a:prstGeom>
          <a:ln w="19050">
            <a:solidFill>
              <a:srgbClr val="AAB2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65760" y="4846320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A8290"/>
                </a:solidFill>
                <a:latin typeface="Calibri"/>
              </a:rPr>
              <a:t>11 tables  •  all foreign keys implemented with explicit ON DELETE / ON UPDATE behavior in the live schema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7A8290"/>
                </a:solidFill>
                <a:latin typeface="Calibri"/>
              </a:rPr>
              <a:t>Car Rental Reservation &amp; Vehicle Return Management System  |  Review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A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1NF → 2NF → 3NF, With a Real Example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91640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733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54480" y="16459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atomic, no repeating groups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0574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has one make, one model, one status per row — no comma-separated lists.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3291840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2735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54480" y="32461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Non-key attributes depend on the WHOLE key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36576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tables use a single-column surrogate key, so 2NF holds automatically once 1NF does.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709160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4892040"/>
            <a:ext cx="640080" cy="64008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8737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554480" y="48463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attribute depends on another non-key attribute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52578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stores category_id only — NOT category_name. category_name depends on category_id, not on vehicle_id, so it stays in VehicleCategory.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Reservation &amp; Vehicle Return Management System  |  Review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Functional Dependencies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2743200"/>
          </a:xfrm>
          <a:prstGeom prst="roundRect">
            <a:avLst>
              <a:gd name="adj" fmla="val 2000"/>
            </a:avLst>
          </a:prstGeom>
          <a:solidFill>
            <a:srgbClr val="1B243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Vehicle:  vehicle_id → registration_no, category_id, branch_id, make, model, status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Customer: customer_id → full_name, phone, email, license_no, license_expiry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Rental:   rental_id → vehicle_id, customer_id, rate_plan_id, pickup_datetime, actual_return_datetime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Invoice:  invoice_id → rental_id, base_charge, extra_km_charge, late_fee, total_amount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Payment:  payment_id → invoice_id, amount, payment_mode, payment_date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determinant above is the WHOLE primary key, and everything it determines depends on it directly — never on another non-key column. That is 3NF, applied literally.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Reservation &amp; Vehicle Return Management System  |  Review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 — All 11 Tables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4709160"/>
          </a:xfrm>
          <a:prstGeom prst="roundRect">
            <a:avLst>
              <a:gd name="adj" fmla="val 1165"/>
            </a:avLst>
          </a:prstGeom>
          <a:solidFill>
            <a:srgbClr val="1B243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Branch(branch_id PK, branch_name, city, address, phone)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1913206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VehicleCategory(category_id PK, category_name UK, description)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31765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Vehicle(vehicle_id PK, registration_no UK, category_id FK, branch_id FK, ..., status)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72209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Customer(customer_id PK, phone UK, email UK, license_no UK, license_expiry, ...)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3126545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RatePlan(rate_plan_id PK, category_id FK, daily_rate, extra_km_rate, late_fee_per_hour)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3530991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Reservation(reservation_id PK, customer_id FK, category_id FK, pickup/return_branch_id FK, ...)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3935437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Rental(rental_id PK, reservation_id FK NULL, vehicle_id FK, customer_id FK, rate_plan_id FK, ...)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4339883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Inspection(inspection_id PK, rental_id FK, inspection_type, odometer_reading, fuel_level_percent)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744329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Damage(damage_id PK, rental_id FK, inspection_id FK NULL, repair_cost, charged_amount)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5148775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Invoice(invoice_id PK, rental_id FK UK, base_charge, extra_km_charge, late_fee, total_amount)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555322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CE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Payment(payment_id PK, invoice_id FK, amount, payment_mode, transaction_ref)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Reservation &amp; Vehicle Return Management System  |  Review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Dictionary — Rental (Representative)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2194560" cy="457200"/>
          </a:xfrm>
          <a:prstGeom prst="rect">
            <a:avLst/>
          </a:prstGeom>
          <a:solidFill>
            <a:srgbClr val="1B24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944368" y="1463040"/>
            <a:ext cx="1371600" cy="457200"/>
          </a:xfrm>
          <a:prstGeom prst="rect">
            <a:avLst/>
          </a:prstGeom>
          <a:solidFill>
            <a:srgbClr val="1B24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98848" y="1463040"/>
            <a:ext cx="1005840" cy="457200"/>
          </a:xfrm>
          <a:prstGeom prst="rect">
            <a:avLst/>
          </a:prstGeom>
          <a:solidFill>
            <a:srgbClr val="1B24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87568" y="1463040"/>
            <a:ext cx="1188720" cy="457200"/>
          </a:xfrm>
          <a:prstGeom prst="rect">
            <a:avLst/>
          </a:prstGeom>
          <a:solidFill>
            <a:srgbClr val="1B24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59168" y="1463040"/>
            <a:ext cx="1280160" cy="457200"/>
          </a:xfrm>
          <a:prstGeom prst="rect">
            <a:avLst/>
          </a:prstGeom>
          <a:solidFill>
            <a:srgbClr val="1B24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22208" y="1463040"/>
            <a:ext cx="3108960" cy="457200"/>
          </a:xfrm>
          <a:prstGeom prst="rect">
            <a:avLst/>
          </a:prstGeom>
          <a:solidFill>
            <a:srgbClr val="1B24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920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rental_id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44368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98848" y="19202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87568" y="1920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59168" y="1920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AUTO_INC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22208" y="1920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377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reservation_id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44368" y="2377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98848" y="23774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87568" y="2377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59168" y="23774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22208" y="2377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Nullable — walk-ins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2834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vehicle_id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44368" y="2834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98848" y="28346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87568" y="2834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59168" y="2834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22208" y="2834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944368" y="3291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98848" y="32918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87568" y="32918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59168" y="3291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22208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" y="3749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rate_plan_id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944368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498848" y="3749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87568" y="3749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59168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522208" y="3749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3" name="Text 41"/>
          <p:cNvSpPr/>
          <p:nvPr/>
        </p:nvSpPr>
        <p:spPr>
          <a:xfrm>
            <a:off x="566928" y="4206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pickup_datetime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944368" y="4206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498848" y="42062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687568" y="4206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059168" y="4206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522208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66928" y="4663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actual_return_datetime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944368" y="4663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498848" y="46634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687568" y="4663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059168" y="46634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522208" y="4663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&gt; pickup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6" name="Text 54"/>
          <p:cNvSpPr/>
          <p:nvPr/>
        </p:nvSpPr>
        <p:spPr>
          <a:xfrm>
            <a:off x="566928" y="5120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944368" y="5120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VARCHAR(15)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498848" y="51206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687568" y="5120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059168" y="5120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'Active'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522208" y="5120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(...)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dictionary for all 11 tables is in the project report — shown here is one representative table.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Reservation &amp; Vehicle Return Management System  |  Review 2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 &amp; Integrity Constraints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6304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83280" y="1463040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— AUTO_INCREMENT surrogate key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8600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2286000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relationship, with explicit ON DELETE/UPDATE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10896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3108960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registration_no, phone, email, license_no, Invoice.rental_id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93192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3931920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ranges: year, odometer ≥ 0, fuel 0–100%, charges ≥ 0, date ordering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75488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/ DEFAULT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4754880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fields; status defaults ('Available', 'Active', 'Booked')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577840"/>
            <a:ext cx="1124712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57784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5577840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triggers — cross-row rules + automatic vehicle status sync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Reservation &amp; Vehicle Return Management System  |  Review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Realistic Sample Data Loaded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1B243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23160" y="15544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1B2430"/>
          </a:solidFill>
          <a:ln/>
        </p:spPr>
      </p:sp>
      <p:sp>
        <p:nvSpPr>
          <p:cNvPr id="8" name="Text 6"/>
          <p:cNvSpPr/>
          <p:nvPr/>
        </p:nvSpPr>
        <p:spPr>
          <a:xfrm>
            <a:off x="242316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2316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1B2430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38912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55080" y="15544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1B2430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5508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321040" y="15544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1B2430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32104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Plans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287000" y="15544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1B2430"/>
          </a:solidFill>
          <a:ln/>
        </p:spPr>
      </p:sp>
      <p:sp>
        <p:nvSpPr>
          <p:cNvPr id="20" name="Text 18"/>
          <p:cNvSpPr/>
          <p:nvPr/>
        </p:nvSpPr>
        <p:spPr>
          <a:xfrm>
            <a:off x="1028700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28700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1B243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63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5720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423160" y="29260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1B2430"/>
          </a:solidFill>
          <a:ln/>
        </p:spPr>
      </p:sp>
      <p:sp>
        <p:nvSpPr>
          <p:cNvPr id="26" name="Text 24"/>
          <p:cNvSpPr/>
          <p:nvPr/>
        </p:nvSpPr>
        <p:spPr>
          <a:xfrm>
            <a:off x="2423160" y="3063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42316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89120" y="29260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1B2430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0" y="3063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38912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55080" y="29260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1B2430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3063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35508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321040" y="292608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1B2430"/>
          </a:solidFill>
          <a:ln/>
        </p:spPr>
      </p:sp>
      <p:sp>
        <p:nvSpPr>
          <p:cNvPr id="35" name="Text 33"/>
          <p:cNvSpPr/>
          <p:nvPr/>
        </p:nvSpPr>
        <p:spPr>
          <a:xfrm>
            <a:off x="8321040" y="3063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832104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42976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includes: available / rented / maintenance vehicles • an active rental • an overdue rental • a rental with damage • an invoice paid in two partial installments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Reservation &amp; Vehicle Return Management System  |  Review 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THE DATABASE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Queries, Subqueries, Aggregation &amp; Views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544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0" y="155448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rental history, Invoice+Payment, Damage+Vehicle+Customer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7432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0" y="274320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Customers/vehicles above-average rental count, branches above-average revenue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93192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0" y="393192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COUNT/SUM/AVG/MIN/MAX with GROUP BY — revenue, utilization, damage cost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5120640"/>
            <a:ext cx="11247120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51206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(6)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512064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Availability, Overdue Rentals, Customer History, Branch Revenue, Utilization, Damage Report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Reservation &amp; Vehicle Return Management System  |  Review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Rules — Tested &amp; Confirmed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overlapping rentals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1627632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1B2430"/>
          </a:solidFill>
          <a:ln/>
        </p:spPr>
      </p:sp>
      <p:sp>
        <p:nvSpPr>
          <p:cNvPr id="7" name="Text 5"/>
          <p:cNvSpPr/>
          <p:nvPr/>
        </p:nvSpPr>
        <p:spPr>
          <a:xfrm>
            <a:off x="4480560" y="162763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0" y="15087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Confirmed: rejected with overlap error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0487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driving licence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2523744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1B2430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523744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0" y="2404872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Confirmed: rejected with expiry error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300984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300984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after pickup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80560" y="3419856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1B2430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341985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0" y="3300984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Confirmed: rejected by CHECK constraint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197096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197096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odometer / fuel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80560" y="4315968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1B2430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431596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+ Trigger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0" y="419709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Confirmed: rejected with odometer error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5093208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5093208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Non-negative charges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480560" y="521208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1B2430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5212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0" y="509320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Confirmed: rejected by CHECK constraint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Reservation &amp; Vehicle Return Management System  |  Review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914400"/>
            <a:ext cx="1645920" cy="1645920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3" name="Shape 1"/>
          <p:cNvSpPr/>
          <p:nvPr/>
        </p:nvSpPr>
        <p:spPr>
          <a:xfrm>
            <a:off x="1314450" y="1679753"/>
            <a:ext cx="1028700" cy="411480"/>
          </a:xfrm>
          <a:prstGeom prst="roundRect">
            <a:avLst>
              <a:gd name="adj" fmla="val 13333"/>
            </a:avLst>
          </a:prstGeom>
          <a:solidFill>
            <a:srgbClr val="1B2430"/>
          </a:solidFill>
          <a:ln/>
        </p:spPr>
      </p:sp>
      <p:sp>
        <p:nvSpPr>
          <p:cNvPr id="4" name="Shape 2"/>
          <p:cNvSpPr/>
          <p:nvPr/>
        </p:nvSpPr>
        <p:spPr>
          <a:xfrm>
            <a:off x="1545908" y="1469898"/>
            <a:ext cx="565785" cy="349758"/>
          </a:xfrm>
          <a:prstGeom prst="roundRect">
            <a:avLst>
              <a:gd name="adj" fmla="val 13072"/>
            </a:avLst>
          </a:prstGeom>
          <a:solidFill>
            <a:srgbClr val="1B2430"/>
          </a:solidFill>
          <a:ln/>
        </p:spPr>
      </p:sp>
      <p:sp>
        <p:nvSpPr>
          <p:cNvPr id="5" name="Shape 3"/>
          <p:cNvSpPr/>
          <p:nvPr/>
        </p:nvSpPr>
        <p:spPr>
          <a:xfrm>
            <a:off x="1346545" y="1959559"/>
            <a:ext cx="213970" cy="21397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6" name="Shape 4"/>
          <p:cNvSpPr/>
          <p:nvPr/>
        </p:nvSpPr>
        <p:spPr>
          <a:xfrm>
            <a:off x="2097085" y="1959559"/>
            <a:ext cx="213970" cy="213970"/>
          </a:xfrm>
          <a:prstGeom prst="ellipse">
            <a:avLst/>
          </a:prstGeom>
          <a:solidFill>
            <a:srgbClr val="1B2430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12344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Database Prototype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926080" y="18288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flow: Customer → Reservation → Rental → Inspection → Damage → Invoice → Payment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109728" cy="10972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8716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keys &amp; relationships (DESCRIBE / SHOW)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36392"/>
            <a:ext cx="109728" cy="10972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99008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SELECT, JOIN, subquery, view — live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39312"/>
            <a:ext cx="109728" cy="10972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9300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&amp; trigger rejections — shown failing on purpose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142232"/>
            <a:ext cx="109728" cy="109728"/>
          </a:xfrm>
          <a:prstGeom prst="ellipse">
            <a:avLst/>
          </a:prstGeom>
          <a:solidFill>
            <a:srgbClr val="FFC10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95928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COMMIT and ROLLBACK, verified after each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Achieved: a normalized, constraint-enforced, tested MySQL database ready for the Review 3 application layer.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0" y="58521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1699</Words>
  <Application>Microsoft Office PowerPoint</Application>
  <PresentationFormat>Widescreen</PresentationFormat>
  <Paragraphs>228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Mithul Koneri (B.Tech_2029)</cp:lastModifiedBy>
  <cp:revision>2</cp:revision>
  <dcterms:created xsi:type="dcterms:W3CDTF">2026-09-12T06:14:33Z</dcterms:created>
  <dcterms:modified xsi:type="dcterms:W3CDTF">2026-09-19T16:02:35Z</dcterms:modified>
</cp:coreProperties>
</file>