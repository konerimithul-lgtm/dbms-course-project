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60" r:id="rId11"/>
    <p:sldId id="261" r:id="rId12"/>
    <p:sldId id="263" r:id="rId14"/>
    <p:sldId id="264" r:id="rId15"/>
    <p:sldId id="267" r:id="rId18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8" Type="http://schemas.openxmlformats.org/officeDocument/2006/relationships/slide" Target="slides/slide12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789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8FAFC"/>
                </a:solidFill>
              </a:defRPr>
            </a:pPr>
            <a:r>
              <a:t>CAR RENTAL</a:t>
            </a:r>
          </a:p>
          <a:p>
            <a:pPr>
              <a:defRPr sz="2300">
                <a:solidFill>
                  <a:srgbClr val="50BEBE"/>
                </a:solidFill>
              </a:defRPr>
            </a:pPr>
            <a:r>
              <a:t>Reservation &amp; Vehicle Return Management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6400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E8EFF6"/>
                </a:solidFill>
              </a:defRPr>
            </a:pPr>
            <a:r>
              <a:t>FINAL PRESENTATION – REVIEW III</a:t>
            </a:r>
          </a:p>
          <a:p>
            <a:pPr>
              <a:spcAft>
                <a:spcPts val="700"/>
              </a:spcAft>
              <a:defRPr sz="1300" b="0">
                <a:solidFill>
                  <a:srgbClr val="78879B"/>
                </a:solidFill>
              </a:defRPr>
            </a:pPr>
            <a:r>
              <a:t>Working Python + Tkinter + MySQL Application</a:t>
            </a:r>
          </a:p>
          <a:p>
            <a:pPr>
              <a:spcAft>
                <a:spcPts val="700"/>
              </a:spcAft>
              <a:defRPr sz="1300" b="0">
                <a:solidFill>
                  <a:srgbClr val="78879B"/>
                </a:solidFill>
              </a:defRPr>
            </a:pPr>
            <a:r>
              <a:t>Live CRUD • Availability • Reports • Validation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909560" y="2743200"/>
            <a:ext cx="3474720" cy="1828800"/>
          </a:xfrm>
          <a:prstGeom prst="roundRect">
            <a:avLst/>
          </a:prstGeom>
          <a:solidFill>
            <a:srgbClr val="1F3052"/>
          </a:solidFill>
          <a:ln>
            <a:solidFill>
              <a:srgbClr val="37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909560" y="2743200"/>
            <a:ext cx="64008" cy="18288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92440" y="2880360"/>
            <a:ext cx="31546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PRESENTED BY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2440" y="3310128"/>
            <a:ext cx="3154679" cy="1170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E8EFF6"/>
                </a:solidFill>
              </a:defRPr>
            </a:pPr>
            <a:r>
              <a:t>Koneri Mithul</a:t>
            </a:r>
            <a:br/>
            <a:r>
              <a:t>25WU0102129</a:t>
            </a:r>
            <a:br/>
            <a:r>
              <a:t>AIML Panthers</a:t>
            </a:r>
            <a:br/>
            <a:r>
              <a:t>Guide: Dr. Kiran Mayee Adavala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784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13D"/>
                </a:solidFill>
                <a:latin typeface="Aptos Display"/>
              </a:defRPr>
            </a:pPr>
            <a:r>
              <a:t>Project Objective &amp; Final Deliverable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36576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A6A6"/>
                </a:solidFill>
              </a:defRPr>
            </a:pPr>
            <a:r>
              <a:t>01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097280"/>
            <a:ext cx="3429000" cy="1828800"/>
          </a:xfrm>
          <a:prstGeom prst="roundRect">
            <a:avLst/>
          </a:prstGeom>
          <a:solidFill>
            <a:srgbClr val="F7F9FC"/>
          </a:solidFill>
          <a:ln>
            <a:solidFill>
              <a:srgbClr val="D7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097280"/>
            <a:ext cx="64008" cy="1828800"/>
          </a:xfrm>
          <a:prstGeom prst="rect">
            <a:avLst/>
          </a:prstGeom>
          <a:solidFill>
            <a:srgbClr val="C8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234439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213D"/>
                </a:solidFill>
              </a:defRPr>
            </a:pPr>
            <a: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64207"/>
            <a:ext cx="3108960" cy="1170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D3C"/>
                </a:solidFill>
              </a:defRPr>
            </a:pPr>
            <a:r>
              <a:t>Manual/disconnected rental tracking can cause double-booking, licence issues, missing damage records and revenue leakage.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097280"/>
            <a:ext cx="3429000" cy="1828800"/>
          </a:xfrm>
          <a:prstGeom prst="roundRect">
            <a:avLst/>
          </a:prstGeom>
          <a:solidFill>
            <a:srgbClr val="F7F9FC"/>
          </a:solidFill>
          <a:ln>
            <a:solidFill>
              <a:srgbClr val="D7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70832" y="1097280"/>
            <a:ext cx="64008" cy="18288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1234439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213D"/>
                </a:solidFill>
              </a:defRPr>
            </a:pPr>
            <a:r>
              <a:t>THE 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1664207"/>
            <a:ext cx="3108960" cy="1170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D3C"/>
                </a:solidFill>
              </a:defRPr>
            </a:pPr>
            <a:r>
              <a:t>A normalized multi-branch rental database with a live Python UI connected directly to MySQL.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097280"/>
            <a:ext cx="3429000" cy="1828800"/>
          </a:xfrm>
          <a:prstGeom prst="roundRect">
            <a:avLst/>
          </a:prstGeom>
          <a:solidFill>
            <a:srgbClr val="F7F9FC"/>
          </a:solidFill>
          <a:ln>
            <a:solidFill>
              <a:srgbClr val="D7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097280"/>
            <a:ext cx="64008" cy="1828800"/>
          </a:xfrm>
          <a:prstGeom prst="rect">
            <a:avLst/>
          </a:prstGeom>
          <a:solidFill>
            <a:srgbClr val="239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234439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213D"/>
                </a:solidFill>
              </a:defRPr>
            </a:pPr>
            <a:r>
              <a:t>REVIEW III GOAL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1664207"/>
            <a:ext cx="3108960" cy="1170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D3C"/>
                </a:solidFill>
              </a:defRPr>
            </a:pPr>
            <a:r>
              <a:t>Demonstrate working insertion, deletion and viewing of records, with changes reflected in the database.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6576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32D3C"/>
                </a:solidFill>
              </a:defRPr>
            </a:pPr>
            <a:r>
              <a:t>Final system combines database design + implementation + live application.</a:t>
            </a:r>
          </a:p>
          <a:p>
            <a:pPr>
              <a:spcAft>
                <a:spcPts val="800"/>
              </a:spcAft>
              <a:defRPr sz="1600">
                <a:solidFill>
                  <a:srgbClr val="232D3C"/>
                </a:solidFill>
              </a:defRPr>
            </a:pPr>
            <a:r>
              <a:t>UI includes all 11 project tables plus availability and reporting.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05840" y="4983480"/>
            <a:ext cx="10058400" cy="914400"/>
          </a:xfrm>
          <a:prstGeom prst="roundRect">
            <a:avLst/>
          </a:prstGeom>
          <a:solidFill>
            <a:srgbClr val="F7F9FC"/>
          </a:solidFill>
          <a:ln>
            <a:solidFill>
              <a:srgbClr val="D7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05840" y="4983480"/>
            <a:ext cx="64008" cy="9144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5120640"/>
            <a:ext cx="9738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213D"/>
                </a:solidFill>
              </a:defRPr>
            </a:pPr>
            <a:r>
              <a:t>CORE FLOW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5550408"/>
            <a:ext cx="9738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D3C"/>
                </a:solidFill>
              </a:defRPr>
            </a:pPr>
            <a:r>
              <a:t>Customer → Reservation → Rental → Inspection → Damage → Invoice → Payment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784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13D"/>
                </a:solidFill>
                <a:latin typeface="Aptos Display"/>
              </a:defRPr>
            </a:pPr>
            <a:r>
              <a:t>Working UI –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36576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A6A6"/>
                </a:solidFill>
              </a:defRPr>
            </a:pPr>
            <a:r>
              <a:t>04</a:t>
            </a:r>
          </a:p>
        </p:txBody>
      </p:sp>
      <p:pic>
        <p:nvPicPr>
          <p:cNvPr id="5" name="Picture 4" descr="image(20261004-091307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960120"/>
            <a:ext cx="7772400" cy="510773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458200" y="1097280"/>
            <a:ext cx="2971800" cy="960120"/>
          </a:xfrm>
          <a:prstGeom prst="roundRect">
            <a:avLst/>
          </a:prstGeom>
          <a:solidFill>
            <a:srgbClr val="F7F9FC"/>
          </a:solidFill>
          <a:ln>
            <a:solidFill>
              <a:srgbClr val="D7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58200" y="1097280"/>
            <a:ext cx="64008" cy="960120"/>
          </a:xfrm>
          <a:prstGeom prst="rect">
            <a:avLst/>
          </a:prstGeom>
          <a:solidFill>
            <a:srgbClr val="239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41080" y="1234439"/>
            <a:ext cx="2651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213D"/>
                </a:solidFill>
              </a:defRPr>
            </a:pPr>
            <a:r>
              <a:t>LIVE DATABASE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41080" y="1664207"/>
            <a:ext cx="265176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D3C"/>
                </a:solidFill>
              </a:defRPr>
            </a:pPr>
            <a:r>
              <a:t>7/7 summary counters loaded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58200" y="2286000"/>
            <a:ext cx="2971800" cy="1828800"/>
          </a:xfrm>
          <a:prstGeom prst="roundRect">
            <a:avLst/>
          </a:prstGeom>
          <a:solidFill>
            <a:srgbClr val="F7F9FC"/>
          </a:solidFill>
          <a:ln>
            <a:solidFill>
              <a:srgbClr val="D7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458200" y="2286000"/>
            <a:ext cx="64008" cy="18288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41080" y="2423160"/>
            <a:ext cx="2651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213D"/>
                </a:solidFill>
              </a:defRPr>
            </a:pPr>
            <a:r>
              <a:t>MODULES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41080" y="2852928"/>
            <a:ext cx="2651760" cy="1170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D3C"/>
                </a:solidFill>
              </a:defRPr>
            </a:pPr>
            <a:r>
              <a:t>11 table tabs</a:t>
            </a:r>
            <a:br/>
            <a:r>
              <a:t>Availability</a:t>
            </a:r>
            <a:br/>
            <a:r>
              <a:t>Reports</a:t>
            </a:r>
            <a:br/>
            <a:r>
              <a:t>Live MySQL connection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58200" y="4389120"/>
            <a:ext cx="2971800" cy="1280160"/>
          </a:xfrm>
          <a:prstGeom prst="roundRect">
            <a:avLst/>
          </a:prstGeom>
          <a:solidFill>
            <a:srgbClr val="F7F9FC"/>
          </a:solidFill>
          <a:ln>
            <a:solidFill>
              <a:srgbClr val="D7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458200" y="4389120"/>
            <a:ext cx="64008" cy="1280160"/>
          </a:xfrm>
          <a:prstGeom prst="rect">
            <a:avLst/>
          </a:prstGeom>
          <a:solidFill>
            <a:srgbClr val="50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41080" y="4526280"/>
            <a:ext cx="2651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213D"/>
                </a:solidFill>
              </a:defRPr>
            </a:pPr>
            <a:r>
              <a:t>CRUD READY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41080" y="4956048"/>
            <a:ext cx="265176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D3C"/>
                </a:solidFill>
              </a:defRPr>
            </a:pPr>
            <a:r>
              <a:t>INSERT / UPDATE / DELETE / VIEW</a:t>
            </a:r>
            <a:br/>
            <a:r>
              <a:t>with refresh after each operation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10528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78879B"/>
                </a:solidFill>
              </a:defRPr>
            </a:pPr>
            <a:r>
              <a:t>Car Rental Reservation &amp; Vehicle Return Management System  •  Review III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9224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78879B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784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13D"/>
                </a:solidFill>
                <a:latin typeface="Aptos Display"/>
              </a:defRPr>
            </a:pPr>
            <a:r>
              <a:t>Live CRUD Demonstration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36576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A6A6"/>
                </a:solidFill>
              </a:defRPr>
            </a:pPr>
            <a:r>
              <a:t>05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05840"/>
            <a:ext cx="4572000" cy="685800"/>
          </a:xfrm>
          <a:prstGeom prst="roundRect">
            <a:avLst/>
          </a:prstGeom>
          <a:solidFill>
            <a:srgbClr val="F7F9FC"/>
          </a:solidFill>
          <a:ln>
            <a:solidFill>
              <a:srgbClr val="D7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005840"/>
            <a:ext cx="64008" cy="6858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143000"/>
            <a:ext cx="4251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213D"/>
                </a:solidFill>
              </a:defRPr>
            </a:pPr>
            <a:r>
              <a:t>INSERT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572768"/>
            <a:ext cx="4251960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D3C"/>
                </a:solidFill>
              </a:defRPr>
            </a:pPr>
            <a:r>
              <a:t>Create a test Customer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920240"/>
            <a:ext cx="4572000" cy="685800"/>
          </a:xfrm>
          <a:prstGeom prst="roundRect">
            <a:avLst/>
          </a:prstGeom>
          <a:solidFill>
            <a:srgbClr val="F7F9FC"/>
          </a:solidFill>
          <a:ln>
            <a:solidFill>
              <a:srgbClr val="D7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920240"/>
            <a:ext cx="64008" cy="685800"/>
          </a:xfrm>
          <a:prstGeom prst="rect">
            <a:avLst/>
          </a:prstGeom>
          <a:solidFill>
            <a:srgbClr val="50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057400"/>
            <a:ext cx="4251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213D"/>
                </a:solidFill>
              </a:defRPr>
            </a:pPr>
            <a:r>
              <a:t>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87168"/>
            <a:ext cx="4251960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D3C"/>
                </a:solidFill>
              </a:defRPr>
            </a:pPr>
            <a:r>
              <a:t>Refresh and show 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834640"/>
            <a:ext cx="4572000" cy="685800"/>
          </a:xfrm>
          <a:prstGeom prst="roundRect">
            <a:avLst/>
          </a:prstGeom>
          <a:solidFill>
            <a:srgbClr val="F7F9FC"/>
          </a:solidFill>
          <a:ln>
            <a:solidFill>
              <a:srgbClr val="D7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2834640"/>
            <a:ext cx="64008" cy="685800"/>
          </a:xfrm>
          <a:prstGeom prst="rect">
            <a:avLst/>
          </a:prstGeom>
          <a:solidFill>
            <a:srgbClr val="239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971800"/>
            <a:ext cx="4251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213D"/>
                </a:solidFill>
              </a:defRPr>
            </a:pPr>
            <a:r>
              <a:t>VERIFY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401568"/>
            <a:ext cx="4251960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D3C"/>
                </a:solidFill>
              </a:defRPr>
            </a:pPr>
            <a:r>
              <a:t>SELECT in MySQL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749039"/>
            <a:ext cx="4572000" cy="685800"/>
          </a:xfrm>
          <a:prstGeom prst="roundRect">
            <a:avLst/>
          </a:prstGeom>
          <a:solidFill>
            <a:srgbClr val="F7F9FC"/>
          </a:solidFill>
          <a:ln>
            <a:solidFill>
              <a:srgbClr val="D7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3749039"/>
            <a:ext cx="64008" cy="685800"/>
          </a:xfrm>
          <a:prstGeom prst="rect">
            <a:avLst/>
          </a:prstGeom>
          <a:solidFill>
            <a:srgbClr val="E19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886200"/>
            <a:ext cx="4251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213D"/>
                </a:solidFill>
              </a:defRPr>
            </a:pPr>
            <a:r>
              <a:t>DELETE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315968"/>
            <a:ext cx="4251960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D3C"/>
                </a:solidFill>
              </a:defRPr>
            </a:pPr>
            <a:r>
              <a:t>Delete the test record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663440"/>
            <a:ext cx="4572000" cy="685800"/>
          </a:xfrm>
          <a:prstGeom prst="roundRect">
            <a:avLst/>
          </a:prstGeom>
          <a:solidFill>
            <a:srgbClr val="F7F9FC"/>
          </a:solidFill>
          <a:ln>
            <a:solidFill>
              <a:srgbClr val="D7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4663440"/>
            <a:ext cx="64008" cy="685800"/>
          </a:xfrm>
          <a:prstGeom prst="rect">
            <a:avLst/>
          </a:prstGeom>
          <a:solidFill>
            <a:srgbClr val="C8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800600"/>
            <a:ext cx="4251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213D"/>
                </a:solidFill>
              </a:defRPr>
            </a:pPr>
            <a:r>
              <a:t>VERIFY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230368"/>
            <a:ext cx="4251960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D3C"/>
                </a:solidFill>
              </a:defRPr>
            </a:pPr>
            <a:r>
              <a:t>SELECT again – no row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577840" y="1051560"/>
            <a:ext cx="5669280" cy="4297680"/>
          </a:xfrm>
          <a:prstGeom prst="roundRect">
            <a:avLst/>
          </a:prstGeom>
          <a:solidFill>
            <a:srgbClr val="F7F9FC"/>
          </a:solidFill>
          <a:ln>
            <a:solidFill>
              <a:srgbClr val="D7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577840" y="1051560"/>
            <a:ext cx="64008" cy="429768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60720" y="1188719"/>
            <a:ext cx="5349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213D"/>
                </a:solidFill>
              </a:defRPr>
            </a:pPr>
            <a:r>
              <a:t>MYSQL VERIFICATION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60720" y="1618488"/>
            <a:ext cx="5349240" cy="3639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D3C"/>
                </a:solidFill>
              </a:defRPr>
            </a:pPr>
            <a:r>
              <a:t>USE car_rental_db;</a:t>
            </a:r>
            <a:br/>
            <a:br/>
            <a:r>
              <a:t>SELECT * FROM customer;</a:t>
            </a:r>
            <a:br/>
            <a:br/>
            <a:r>
              <a:t>SELECT * FROM customer</a:t>
            </a:r>
            <a:br/>
            <a:r>
              <a:t>WHERE license_no='TESTDL1001';</a:t>
            </a:r>
            <a:br/>
            <a:br/>
            <a:r>
              <a:t>Expected: row exists after INSERT and no row after DELETE.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510528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78879B"/>
                </a:solidFill>
              </a:defRPr>
            </a:pPr>
            <a:r>
              <a:t>Car Rental Reservation &amp; Vehicle Return Management System  •  Review III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64240" y="649224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78879B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784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13D"/>
                </a:solidFill>
                <a:latin typeface="Aptos Display"/>
              </a:defRPr>
            </a:pPr>
            <a:r>
              <a:t>Validation &amp; Database Integrity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36576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A6A6"/>
                </a:solidFill>
              </a:defRPr>
            </a:pPr>
            <a:r>
              <a:t>07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097280"/>
            <a:ext cx="5166360" cy="1188720"/>
          </a:xfrm>
          <a:prstGeom prst="roundRect">
            <a:avLst/>
          </a:prstGeom>
          <a:solidFill>
            <a:srgbClr val="F7F9FC"/>
          </a:solidFill>
          <a:ln>
            <a:solidFill>
              <a:srgbClr val="D7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097280"/>
            <a:ext cx="64008" cy="118872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234439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213D"/>
                </a:solidFill>
              </a:defRPr>
            </a:pPr>
            <a:r>
              <a:t>Referential integrity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1664207"/>
            <a:ext cx="484632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D3C"/>
                </a:solidFill>
              </a:defRPr>
            </a:pPr>
            <a:r>
              <a:t>PK/FK relationships prevent invalid references.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097280"/>
            <a:ext cx="5166360" cy="1188720"/>
          </a:xfrm>
          <a:prstGeom prst="roundRect">
            <a:avLst/>
          </a:prstGeom>
          <a:solidFill>
            <a:srgbClr val="F7F9FC"/>
          </a:solidFill>
          <a:ln>
            <a:solidFill>
              <a:srgbClr val="D7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097280"/>
            <a:ext cx="64008" cy="1188720"/>
          </a:xfrm>
          <a:prstGeom prst="rect">
            <a:avLst/>
          </a:prstGeom>
          <a:solidFill>
            <a:srgbClr val="C8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234439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213D"/>
                </a:solidFill>
              </a:defRPr>
            </a:pPr>
            <a:r>
              <a:t>Licence validation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664207"/>
            <a:ext cx="484632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D3C"/>
                </a:solidFill>
              </a:defRPr>
            </a:pPr>
            <a:r>
              <a:t>Pickup is blocked for an invalid/expired licence.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606039"/>
            <a:ext cx="5166360" cy="1188720"/>
          </a:xfrm>
          <a:prstGeom prst="roundRect">
            <a:avLst/>
          </a:prstGeom>
          <a:solidFill>
            <a:srgbClr val="F7F9FC"/>
          </a:solidFill>
          <a:ln>
            <a:solidFill>
              <a:srgbClr val="D7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2606039"/>
            <a:ext cx="64008" cy="1188720"/>
          </a:xfrm>
          <a:prstGeom prst="rect">
            <a:avLst/>
          </a:prstGeom>
          <a:solidFill>
            <a:srgbClr val="E19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" y="2743199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213D"/>
                </a:solidFill>
              </a:defRPr>
            </a:pPr>
            <a:r>
              <a:t>No overlap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3172968"/>
            <a:ext cx="484632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D3C"/>
                </a:solidFill>
              </a:defRPr>
            </a:pPr>
            <a:r>
              <a:t>Rental issue logic checks conflicting rental periods.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2606039"/>
            <a:ext cx="5166360" cy="1188720"/>
          </a:xfrm>
          <a:prstGeom prst="roundRect">
            <a:avLst/>
          </a:prstGeom>
          <a:solidFill>
            <a:srgbClr val="F7F9FC"/>
          </a:solidFill>
          <a:ln>
            <a:solidFill>
              <a:srgbClr val="D7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2606039"/>
            <a:ext cx="64008" cy="1188720"/>
          </a:xfrm>
          <a:prstGeom prst="rect">
            <a:avLst/>
          </a:prstGeom>
          <a:solidFill>
            <a:srgbClr val="50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2743199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213D"/>
                </a:solidFill>
              </a:defRPr>
            </a:pPr>
            <a:r>
              <a:t>Return validation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172968"/>
            <a:ext cx="484632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D3C"/>
                </a:solidFill>
              </a:defRPr>
            </a:pPr>
            <a:r>
              <a:t>Return time and odometer rules protect data quality.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114800"/>
            <a:ext cx="5166360" cy="1188720"/>
          </a:xfrm>
          <a:prstGeom prst="roundRect">
            <a:avLst/>
          </a:prstGeom>
          <a:solidFill>
            <a:srgbClr val="F7F9FC"/>
          </a:solidFill>
          <a:ln>
            <a:solidFill>
              <a:srgbClr val="D7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4114800"/>
            <a:ext cx="64008" cy="1188720"/>
          </a:xfrm>
          <a:prstGeom prst="rect">
            <a:avLst/>
          </a:prstGeom>
          <a:solidFill>
            <a:srgbClr val="239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59" y="4251960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213D"/>
                </a:solidFill>
              </a:defRPr>
            </a:pPr>
            <a:r>
              <a:t>Safe charges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59" y="4681728"/>
            <a:ext cx="484632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D3C"/>
                </a:solidFill>
              </a:defRPr>
            </a:pPr>
            <a:r>
              <a:t>Charges/payments use non-negative or positive checks.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4114800"/>
            <a:ext cx="5166360" cy="1188720"/>
          </a:xfrm>
          <a:prstGeom prst="roundRect">
            <a:avLst/>
          </a:prstGeom>
          <a:solidFill>
            <a:srgbClr val="F7F9FC"/>
          </a:solidFill>
          <a:ln>
            <a:solidFill>
              <a:srgbClr val="D7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17920" y="4114800"/>
            <a:ext cx="64008" cy="1188720"/>
          </a:xfrm>
          <a:prstGeom prst="rect">
            <a:avLst/>
          </a:prstGeom>
          <a:solidFill>
            <a:srgbClr val="1F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4251960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213D"/>
                </a:solidFill>
              </a:defRPr>
            </a:pPr>
            <a:r>
              <a:t>Transactions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4681728"/>
            <a:ext cx="484632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D3C"/>
                </a:solidFill>
              </a:defRPr>
            </a:pPr>
            <a:r>
              <a:t>Commit/rollback keeps multi-step operations consistent.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510528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78879B"/>
                </a:solidFill>
              </a:defRPr>
            </a:pPr>
            <a:r>
              <a:t>Car Rental Reservation &amp; Vehicle Return Management System  •  Review III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64240" y="649224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78879B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784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13D"/>
                </a:solidFill>
                <a:latin typeface="Aptos Display"/>
              </a:defRPr>
            </a:pPr>
            <a:r>
              <a:t>Availability &amp; Reporting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36576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A6A6"/>
                </a:solidFill>
              </a:defRPr>
            </a:pPr>
            <a:r>
              <a:t>08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143000"/>
            <a:ext cx="5257800" cy="4389120"/>
          </a:xfrm>
          <a:prstGeom prst="roundRect">
            <a:avLst/>
          </a:prstGeom>
          <a:solidFill>
            <a:srgbClr val="F7F9FC"/>
          </a:solidFill>
          <a:ln>
            <a:solidFill>
              <a:srgbClr val="D7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143000"/>
            <a:ext cx="64008" cy="438912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28016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213D"/>
                </a:solidFill>
              </a:defRPr>
            </a:pPr>
            <a:r>
              <a:t>AVAILABILITY 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1709928"/>
            <a:ext cx="4937760" cy="3730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D3C"/>
                </a:solidFill>
              </a:defRPr>
            </a:pPr>
            <a:r>
              <a:t>Search by pickup/return dates, branch and vehicle category.</a:t>
            </a:r>
            <a:br/>
            <a:br/>
            <a:r>
              <a:t>Output: vehicles available for the requested rental window.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143000"/>
            <a:ext cx="5257800" cy="4389120"/>
          </a:xfrm>
          <a:prstGeom prst="roundRect">
            <a:avLst/>
          </a:prstGeom>
          <a:solidFill>
            <a:srgbClr val="F7F9FC"/>
          </a:solidFill>
          <a:ln>
            <a:solidFill>
              <a:srgbClr val="D7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143000"/>
            <a:ext cx="64008" cy="4389120"/>
          </a:xfrm>
          <a:prstGeom prst="rect">
            <a:avLst/>
          </a:prstGeom>
          <a:solidFill>
            <a:srgbClr val="239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28016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213D"/>
                </a:solidFill>
              </a:defRPr>
            </a:pPr>
            <a:r>
              <a:t>REPORTS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709928"/>
            <a:ext cx="4937760" cy="3730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D3C"/>
                </a:solidFill>
              </a:defRPr>
            </a:pPr>
            <a:r>
              <a:t>Fleet availability</a:t>
            </a:r>
            <a:br/>
            <a:r>
              <a:t>Overdue rentals</a:t>
            </a:r>
            <a:br/>
            <a:r>
              <a:t>Customer rental history</a:t>
            </a:r>
            <a:br/>
            <a:r>
              <a:t>Branch revenue</a:t>
            </a:r>
            <a:br/>
            <a:r>
              <a:t>Vehicle utilization</a:t>
            </a:r>
            <a:br/>
            <a:r>
              <a:t>Damage report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10528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78879B"/>
                </a:solidFill>
              </a:defRPr>
            </a:pPr>
            <a:r>
              <a:t>Car Rental Reservation &amp; Vehicle Return Management System  •  Review III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9224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78879B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784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13D"/>
                </a:solidFill>
                <a:latin typeface="Aptos Display"/>
              </a:defRPr>
            </a:pPr>
            <a:r>
              <a:t>Final 10-Minute Demonstration Sequence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36576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A6A6"/>
                </a:solidFill>
              </a:defRPr>
            </a:pPr>
            <a: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51560"/>
            <a:ext cx="10515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32D3C"/>
                </a:solidFill>
              </a:defRPr>
            </a:pPr>
            <a:r>
              <a:t>1. Dashboard – prove live MySQL connection</a:t>
            </a:r>
          </a:p>
          <a:p>
            <a:pPr>
              <a:spcAft>
                <a:spcPts val="800"/>
              </a:spcAft>
              <a:defRPr sz="1500">
                <a:solidFill>
                  <a:srgbClr val="232D3C"/>
                </a:solidFill>
              </a:defRPr>
            </a:pPr>
            <a:r>
              <a:t>2. Customer – INSERT a test record</a:t>
            </a:r>
          </a:p>
          <a:p>
            <a:pPr>
              <a:spcAft>
                <a:spcPts val="800"/>
              </a:spcAft>
              <a:defRPr sz="1500">
                <a:solidFill>
                  <a:srgbClr val="232D3C"/>
                </a:solidFill>
              </a:defRPr>
            </a:pPr>
            <a:r>
              <a:t>3. Customer – VIEW the inserted record</a:t>
            </a:r>
          </a:p>
          <a:p>
            <a:pPr>
              <a:spcAft>
                <a:spcPts val="800"/>
              </a:spcAft>
              <a:defRPr sz="1500">
                <a:solidFill>
                  <a:srgbClr val="232D3C"/>
                </a:solidFill>
              </a:defRPr>
            </a:pPr>
            <a:r>
              <a:t>4. MySQL Workbench – SELECT to prove the database change</a:t>
            </a:r>
          </a:p>
          <a:p>
            <a:pPr>
              <a:spcAft>
                <a:spcPts val="800"/>
              </a:spcAft>
              <a:defRPr sz="1500">
                <a:solidFill>
                  <a:srgbClr val="232D3C"/>
                </a:solidFill>
              </a:defRPr>
            </a:pPr>
            <a:r>
              <a:t>5. Customer – DELETE the test record</a:t>
            </a:r>
          </a:p>
          <a:p>
            <a:pPr>
              <a:spcAft>
                <a:spcPts val="800"/>
              </a:spcAft>
              <a:defRPr sz="1500">
                <a:solidFill>
                  <a:srgbClr val="232D3C"/>
                </a:solidFill>
              </a:defRPr>
            </a:pPr>
            <a:r>
              <a:t>6. MySQL Workbench – SELECT again to prove deletion</a:t>
            </a:r>
          </a:p>
          <a:p>
            <a:pPr>
              <a:spcAft>
                <a:spcPts val="800"/>
              </a:spcAft>
              <a:defRPr sz="1500">
                <a:solidFill>
                  <a:srgbClr val="232D3C"/>
                </a:solidFill>
              </a:defRPr>
            </a:pPr>
            <a:r>
              <a:t>7. Show Vehicle / Reservation / Rental CRUD screens</a:t>
            </a:r>
          </a:p>
          <a:p>
            <a:pPr>
              <a:spcAft>
                <a:spcPts val="800"/>
              </a:spcAft>
              <a:defRPr sz="1500">
                <a:solidFill>
                  <a:srgbClr val="232D3C"/>
                </a:solidFill>
              </a:defRPr>
            </a:pPr>
            <a:r>
              <a:t>8. Demonstrate Availability search</a:t>
            </a:r>
          </a:p>
          <a:p>
            <a:pPr>
              <a:spcAft>
                <a:spcPts val="800"/>
              </a:spcAft>
              <a:defRPr sz="1500">
                <a:solidFill>
                  <a:srgbClr val="232D3C"/>
                </a:solidFill>
              </a:defRPr>
            </a:pPr>
            <a:r>
              <a:t>9. Demonstrate Reports</a:t>
            </a:r>
          </a:p>
          <a:p>
            <a:pPr>
              <a:spcAft>
                <a:spcPts val="800"/>
              </a:spcAft>
              <a:defRPr sz="1500">
                <a:solidFill>
                  <a:srgbClr val="232D3C"/>
                </a:solidFill>
              </a:defRPr>
            </a:pPr>
            <a:r>
              <a:t>10. Conclude with database + UI + integrity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06640" y="5623560"/>
            <a:ext cx="4023360" cy="566928"/>
          </a:xfrm>
          <a:prstGeom prst="roundRect">
            <a:avLst/>
          </a:prstGeom>
          <a:solidFill>
            <a:srgbClr val="F7F9FC"/>
          </a:solidFill>
          <a:ln>
            <a:solidFill>
              <a:srgbClr val="D7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406640" y="5623560"/>
            <a:ext cx="64008" cy="566928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19" y="5760720"/>
            <a:ext cx="3703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213D"/>
                </a:solidFill>
              </a:defRPr>
            </a:pPr>
            <a:r>
              <a:t>CLOSING 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19" y="6190488"/>
            <a:ext cx="3703320" cy="-91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D3C"/>
                </a:solidFill>
              </a:defRPr>
            </a:pPr>
            <a:r>
              <a:t>“Our Python UI is directly connected to MySQL, and changes are reflected in the database.”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78879B"/>
                </a:solidFill>
              </a:defRPr>
            </a:pPr>
            <a:r>
              <a:t>Car Rental Reservation &amp; Vehicle Return Management System  •  Review III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49224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78879B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9784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8FAFC"/>
                </a:solidFill>
                <a:latin typeface="Aptos Display"/>
              </a:defRPr>
            </a:pPr>
            <a:r>
              <a:t>THANK YOU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28800" y="2011680"/>
            <a:ext cx="8503920" cy="1828800"/>
          </a:xfrm>
          <a:prstGeom prst="roundRect">
            <a:avLst/>
          </a:prstGeom>
          <a:solidFill>
            <a:srgbClr val="1F3052"/>
          </a:solidFill>
          <a:ln>
            <a:solidFill>
              <a:srgbClr val="37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2011680"/>
            <a:ext cx="64008" cy="18288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0" y="2148840"/>
            <a:ext cx="8183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FINAL TAKEAWAY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2578608"/>
            <a:ext cx="8183880" cy="1170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E8EFF6"/>
                </a:solidFill>
              </a:defRPr>
            </a:pPr>
            <a:r>
              <a:t>A normalized MySQL database + working Python application supporting rental operations, CRUD, integrity validation, availability and reporting.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572000"/>
            <a:ext cx="8503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E8EFF6"/>
                </a:solidFill>
              </a:defRPr>
            </a:pPr>
            <a:r>
              <a:t>Koneri Mithul  •  25WU0102129  •  AIML Panthers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