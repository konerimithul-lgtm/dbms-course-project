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1" autoAdjust="0"/>
    <p:restoredTop sz="94610"/>
  </p:normalViewPr>
  <p:slideViewPr>
    <p:cSldViewPr snapToGrid="0" snapToObjects="1">
      <p:cViewPr>
        <p:scale>
          <a:sx n="92" d="100"/>
          <a:sy n="92" d="100"/>
        </p:scale>
        <p:origin x="336"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7093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the panel. State the project name clearly and in one line explain WHY: 'Car rental agencies today rely on manual or spreadsheet-based tracking, which causes double-booking and disputes — we are building a normalized relational database with a Java/Python front-end to fix that.' Keep this slide under 30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sections quickly — this slide should take 15-20 seconds. It tells the panel you have a structured story, not just slides.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real-world pain, not the tech. Say: 'Every one of these four problems traces back to the same root cause — data living in disconnected spreadsheets instead of one governed database.' The three dark cards on the right are your 'so what' — the business consequences examiners often ask about.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slide is a common tough-question trigger — examiners probe 'why not X'. Have one sentence ready per out-of-scope item: e.g. payment gateway is intentionally out because the brief asks us to MODEL payments, not process live transactions — that's an integration concern, not a database-design concern.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these three user roles are exactly why the ER model needs separate Reservation and Rental entities — a customer's need (browse &amp; book) is different from staff's need (issue, inspect, bill) and manager's need (aggregate reports). This ties users directly to design, which is a strong answer if asked 'why did you split Reservation and Rental into two tables instead of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flow live for the panel: 'A Customer books a Reservation for a Vehicle Category at a Branch. When the vehicle is physically issued, that Reservation converts into a Rental, tied to one specific Vehicle and a Rate Plan. Every Rental gets a Pickup Inspection and, later, a Return Inspection — damage found there feeds the Invoice, which can receive multiple Payments.' The amber-bordered Rental box is the transactional heart of the schema — call that out explicitly.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reference slide if the panel asks 'what's the primary key of X' — you have every one listed. Mention that full attribute lists live in the data dictionary, not on the slide, to keep it readable.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examiners lean on hardest. Know cold: a plain CHECK constraint can only look at columns within the SAME row being inserted — it cannot compare against other existing rows. So 'no overlapping rentals' and 'valid licence' need a BEFORE INSERT trigger that queries other rows, while 'return after pickup' and 'non-negative charges' are single-row checks and a CHECK constraint is enough.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schema before normalization polish (that's Review 2's job). Note out loud: FK columns like category_id in Vehicle already show we didn't repeat category_name/description there — that avoids transitive dependency and is a preview of the 3NF argument for Review 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content section here by explicitly mapping back to the rubric — say the three deliverable lines out loud. It signals to the panel you know exactly what you're being graded 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Refer to your separate Viva Prep notes for anticipated basic and tough questions — don't try to hold them all in your head live.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a:effectLst/>
      </p:bgPr>
    </p:bg>
    <p:spTree>
      <p:nvGrpSpPr>
        <p:cNvPr id="1" name=""/>
        <p:cNvGrpSpPr/>
        <p:nvPr/>
      </p:nvGrpSpPr>
      <p:grpSpPr>
        <a:xfrm>
          <a:off x="0" y="0"/>
          <a:ext cx="0" cy="0"/>
          <a:chOff x="0" y="0"/>
          <a:chExt cx="0" cy="0"/>
        </a:xfrm>
      </p:grpSpPr>
      <p:sp>
        <p:nvSpPr>
          <p:cNvPr id="2" name="Shape 0"/>
          <p:cNvSpPr/>
          <p:nvPr/>
        </p:nvSpPr>
        <p:spPr>
          <a:xfrm>
            <a:off x="8046720" y="0"/>
            <a:ext cx="4142232" cy="6858000"/>
          </a:xfrm>
          <a:prstGeom prst="rect">
            <a:avLst/>
          </a:prstGeom>
          <a:solidFill>
            <a:srgbClr val="273244"/>
          </a:solidFill>
          <a:ln/>
        </p:spPr>
      </p:sp>
      <p:sp>
        <p:nvSpPr>
          <p:cNvPr id="3" name="Shape 1"/>
          <p:cNvSpPr/>
          <p:nvPr/>
        </p:nvSpPr>
        <p:spPr>
          <a:xfrm>
            <a:off x="8732520" y="2194560"/>
            <a:ext cx="2468880" cy="2468880"/>
          </a:xfrm>
          <a:prstGeom prst="ellipse">
            <a:avLst/>
          </a:prstGeom>
          <a:solidFill>
            <a:srgbClr val="FFC107"/>
          </a:solidFill>
          <a:ln/>
        </p:spPr>
      </p:sp>
      <p:sp>
        <p:nvSpPr>
          <p:cNvPr id="4" name="Shape 2"/>
          <p:cNvSpPr/>
          <p:nvPr/>
        </p:nvSpPr>
        <p:spPr>
          <a:xfrm>
            <a:off x="9195435" y="3342589"/>
            <a:ext cx="1543050" cy="617220"/>
          </a:xfrm>
          <a:prstGeom prst="roundRect">
            <a:avLst>
              <a:gd name="adj" fmla="val 8889"/>
            </a:avLst>
          </a:prstGeom>
          <a:solidFill>
            <a:srgbClr val="1B2430"/>
          </a:solidFill>
          <a:ln/>
        </p:spPr>
      </p:sp>
      <p:sp>
        <p:nvSpPr>
          <p:cNvPr id="5" name="Shape 3"/>
          <p:cNvSpPr/>
          <p:nvPr/>
        </p:nvSpPr>
        <p:spPr>
          <a:xfrm>
            <a:off x="9542621" y="3027807"/>
            <a:ext cx="848678" cy="524637"/>
          </a:xfrm>
          <a:prstGeom prst="roundRect">
            <a:avLst>
              <a:gd name="adj" fmla="val 8715"/>
            </a:avLst>
          </a:prstGeom>
          <a:solidFill>
            <a:srgbClr val="1B2430"/>
          </a:solidFill>
          <a:ln/>
        </p:spPr>
      </p:sp>
      <p:sp>
        <p:nvSpPr>
          <p:cNvPr id="6" name="Shape 4"/>
          <p:cNvSpPr/>
          <p:nvPr/>
        </p:nvSpPr>
        <p:spPr>
          <a:xfrm>
            <a:off x="9243578" y="3762299"/>
            <a:ext cx="320954" cy="320954"/>
          </a:xfrm>
          <a:prstGeom prst="ellipse">
            <a:avLst/>
          </a:prstGeom>
          <a:solidFill>
            <a:srgbClr val="1B2430"/>
          </a:solidFill>
          <a:ln/>
        </p:spPr>
      </p:sp>
      <p:sp>
        <p:nvSpPr>
          <p:cNvPr id="7" name="Shape 5"/>
          <p:cNvSpPr/>
          <p:nvPr/>
        </p:nvSpPr>
        <p:spPr>
          <a:xfrm>
            <a:off x="10369387" y="3762299"/>
            <a:ext cx="320954" cy="320954"/>
          </a:xfrm>
          <a:prstGeom prst="ellipse">
            <a:avLst/>
          </a:prstGeom>
          <a:solidFill>
            <a:srgbClr val="1B2430"/>
          </a:solidFill>
          <a:ln/>
        </p:spPr>
      </p:sp>
      <p:sp>
        <p:nvSpPr>
          <p:cNvPr id="8" name="Text 6"/>
          <p:cNvSpPr/>
          <p:nvPr/>
        </p:nvSpPr>
        <p:spPr>
          <a:xfrm>
            <a:off x="640080" y="1965960"/>
            <a:ext cx="7315200" cy="365760"/>
          </a:xfrm>
          <a:prstGeom prst="rect">
            <a:avLst/>
          </a:prstGeom>
          <a:noFill/>
          <a:ln/>
        </p:spPr>
        <p:txBody>
          <a:bodyPr wrap="square" rtlCol="0" anchor="ctr"/>
          <a:lstStyle/>
          <a:p>
            <a:pPr marL="0" indent="0">
              <a:buNone/>
            </a:pPr>
            <a:r>
              <a:rPr lang="en-US" sz="1300" b="1" kern="0" spc="200" dirty="0">
                <a:solidFill>
                  <a:srgbClr val="FFC107"/>
                </a:solidFill>
                <a:latin typeface="Calibri" pitchFamily="34" charset="0"/>
                <a:ea typeface="Calibri" pitchFamily="34" charset="-122"/>
                <a:cs typeface="Calibri" pitchFamily="34" charset="-120"/>
              </a:rPr>
              <a:t>DBMS PROJECT-BASED LEARNING  •  REVIEW 1</a:t>
            </a:r>
            <a:endParaRPr lang="en-US" sz="1300" dirty="0"/>
          </a:p>
        </p:txBody>
      </p:sp>
      <p:sp>
        <p:nvSpPr>
          <p:cNvPr id="9" name="Text 7"/>
          <p:cNvSpPr/>
          <p:nvPr/>
        </p:nvSpPr>
        <p:spPr>
          <a:xfrm>
            <a:off x="640080" y="2377440"/>
            <a:ext cx="7040880" cy="1737360"/>
          </a:xfrm>
          <a:prstGeom prst="rect">
            <a:avLst/>
          </a:prstGeom>
          <a:noFill/>
          <a:ln/>
        </p:spPr>
        <p:txBody>
          <a:bodyPr wrap="square" rtlCol="0" anchor="ctr"/>
          <a:lstStyle/>
          <a:p>
            <a:pPr marL="0" indent="0">
              <a:lnSpc>
                <a:spcPct val="108000"/>
              </a:lnSpc>
              <a:buNone/>
            </a:pPr>
            <a:r>
              <a:rPr lang="en-US" sz="3400" b="1" dirty="0">
                <a:solidFill>
                  <a:srgbClr val="FFFFFF"/>
                </a:solidFill>
                <a:latin typeface="Cambria" pitchFamily="34" charset="0"/>
                <a:ea typeface="Cambria" pitchFamily="34" charset="-122"/>
                <a:cs typeface="Cambria" pitchFamily="34" charset="-120"/>
              </a:rPr>
              <a:t>Car Rental Reservation &amp;</a:t>
            </a:r>
            <a:endParaRPr lang="en-US" sz="3400" dirty="0"/>
          </a:p>
          <a:p>
            <a:pPr marL="0" indent="0">
              <a:lnSpc>
                <a:spcPct val="108000"/>
              </a:lnSpc>
              <a:buNone/>
            </a:pPr>
            <a:r>
              <a:rPr lang="en-US" sz="3400" b="1" dirty="0">
                <a:solidFill>
                  <a:srgbClr val="FFFFFF"/>
                </a:solidFill>
                <a:latin typeface="Cambria" pitchFamily="34" charset="0"/>
                <a:ea typeface="Cambria" pitchFamily="34" charset="-122"/>
                <a:cs typeface="Cambria" pitchFamily="34" charset="-120"/>
              </a:rPr>
              <a:t>Vehicle Return Management System</a:t>
            </a:r>
            <a:endParaRPr lang="en-US" sz="3400" dirty="0"/>
          </a:p>
        </p:txBody>
      </p:sp>
      <p:sp>
        <p:nvSpPr>
          <p:cNvPr id="10" name="Text 8"/>
          <p:cNvSpPr/>
          <p:nvPr/>
        </p:nvSpPr>
        <p:spPr>
          <a:xfrm>
            <a:off x="640080" y="4160520"/>
            <a:ext cx="6949440" cy="457200"/>
          </a:xfrm>
          <a:prstGeom prst="rect">
            <a:avLst/>
          </a:prstGeom>
          <a:noFill/>
          <a:ln/>
        </p:spPr>
        <p:txBody>
          <a:bodyPr wrap="square" rtlCol="0" anchor="ctr"/>
          <a:lstStyle/>
          <a:p>
            <a:pPr marL="0" indent="0">
              <a:buNone/>
            </a:pPr>
            <a:r>
              <a:rPr lang="en-US" sz="1600" i="1" dirty="0">
                <a:solidFill>
                  <a:srgbClr val="C9CED6"/>
                </a:solidFill>
                <a:latin typeface="Calibri" pitchFamily="34" charset="0"/>
                <a:ea typeface="Calibri" pitchFamily="34" charset="-122"/>
                <a:cs typeface="Calibri" pitchFamily="34" charset="-120"/>
              </a:rPr>
              <a:t>Conceptual Design, ER Model &amp; Initial Relational Schema</a:t>
            </a:r>
            <a:endParaRPr lang="en-US" sz="1600" dirty="0"/>
          </a:p>
        </p:txBody>
      </p:sp>
      <p:sp>
        <p:nvSpPr>
          <p:cNvPr id="11" name="Text 9"/>
          <p:cNvSpPr/>
          <p:nvPr/>
        </p:nvSpPr>
        <p:spPr>
          <a:xfrm>
            <a:off x="640080" y="5029200"/>
            <a:ext cx="6949440" cy="320040"/>
          </a:xfrm>
          <a:prstGeom prst="rect">
            <a:avLst/>
          </a:prstGeom>
          <a:noFill/>
          <a:ln/>
        </p:spPr>
        <p:txBody>
          <a:bodyPr wrap="square" rtlCol="0" anchor="ctr"/>
          <a:lstStyle/>
          <a:p>
            <a:pPr marL="0" indent="0">
              <a:buNone/>
            </a:pPr>
            <a:r>
              <a:rPr lang="en-US" sz="1250" dirty="0">
                <a:solidFill>
                  <a:srgbClr val="C9CED6"/>
                </a:solidFill>
                <a:latin typeface="Calibri" pitchFamily="34" charset="0"/>
                <a:ea typeface="Calibri" pitchFamily="34" charset="-122"/>
                <a:cs typeface="Calibri" pitchFamily="34" charset="-120"/>
              </a:rPr>
              <a:t>Presented by: Koneri Mithul  |  Roll Number(s) -25WU0102129 |  Class &amp; Section-AIML Panthers </a:t>
            </a:r>
            <a:endParaRPr lang="en-US" sz="1250" dirty="0"/>
          </a:p>
        </p:txBody>
      </p:sp>
      <p:sp>
        <p:nvSpPr>
          <p:cNvPr id="12" name="Text 10"/>
          <p:cNvSpPr/>
          <p:nvPr/>
        </p:nvSpPr>
        <p:spPr>
          <a:xfrm>
            <a:off x="640080" y="5394960"/>
            <a:ext cx="6949440" cy="320040"/>
          </a:xfrm>
          <a:prstGeom prst="rect">
            <a:avLst/>
          </a:prstGeom>
          <a:noFill/>
          <a:ln/>
        </p:spPr>
        <p:txBody>
          <a:bodyPr wrap="square" rtlCol="0" anchor="ctr"/>
          <a:lstStyle/>
          <a:p>
            <a:pPr marL="0" indent="0">
              <a:buNone/>
            </a:pPr>
            <a:r>
              <a:rPr lang="en-US" sz="1250" dirty="0">
                <a:solidFill>
                  <a:srgbClr val="C9CED6"/>
                </a:solidFill>
                <a:latin typeface="Calibri" pitchFamily="34" charset="0"/>
                <a:ea typeface="Calibri" pitchFamily="34" charset="-122"/>
                <a:cs typeface="Calibri" pitchFamily="34" charset="-120"/>
              </a:rPr>
              <a:t>Guide: Dr. Kiran Mayee </a:t>
            </a:r>
            <a:r>
              <a:rPr lang="en-US" sz="1250" dirty="0" err="1">
                <a:solidFill>
                  <a:srgbClr val="C9CED6"/>
                </a:solidFill>
                <a:latin typeface="Calibri" pitchFamily="34" charset="0"/>
                <a:ea typeface="Calibri" pitchFamily="34" charset="-122"/>
                <a:cs typeface="Calibri" pitchFamily="34" charset="-120"/>
              </a:rPr>
              <a:t>Adavala</a:t>
            </a:r>
            <a:r>
              <a:rPr lang="en-US" sz="1250" dirty="0">
                <a:solidFill>
                  <a:srgbClr val="C9CED6"/>
                </a:solidFill>
                <a:latin typeface="Calibri" pitchFamily="34" charset="0"/>
                <a:ea typeface="Calibri" pitchFamily="34" charset="-122"/>
                <a:cs typeface="Calibri" pitchFamily="34" charset="-120"/>
              </a:rPr>
              <a:t>  |  Department of Computer Science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457200" y="1600200"/>
            <a:ext cx="5212080" cy="1417320"/>
          </a:xfrm>
          <a:prstGeom prst="roundRect">
            <a:avLst>
              <a:gd name="adj" fmla="val 3871"/>
            </a:avLst>
          </a:prstGeom>
          <a:solidFill>
            <a:srgbClr val="F4F6F8"/>
          </a:solidFill>
          <a:ln/>
        </p:spPr>
      </p:sp>
      <p:sp>
        <p:nvSpPr>
          <p:cNvPr id="5" name="Shape 3"/>
          <p:cNvSpPr/>
          <p:nvPr/>
        </p:nvSpPr>
        <p:spPr>
          <a:xfrm>
            <a:off x="713232" y="1856232"/>
            <a:ext cx="548640" cy="548640"/>
          </a:xfrm>
          <a:prstGeom prst="ellipse">
            <a:avLst/>
          </a:prstGeom>
          <a:solidFill>
            <a:srgbClr val="1B2430"/>
          </a:solidFill>
          <a:ln/>
        </p:spPr>
      </p:sp>
      <p:sp>
        <p:nvSpPr>
          <p:cNvPr id="6" name="Text 4"/>
          <p:cNvSpPr/>
          <p:nvPr/>
        </p:nvSpPr>
        <p:spPr>
          <a:xfrm>
            <a:off x="713232" y="1837944"/>
            <a:ext cx="548640" cy="548640"/>
          </a:xfrm>
          <a:prstGeom prst="rect">
            <a:avLst/>
          </a:prstGeom>
          <a:noFill/>
          <a:ln/>
        </p:spPr>
        <p:txBody>
          <a:bodyPr wrap="square" rtlCol="0" anchor="ctr"/>
          <a:lstStyle/>
          <a:p>
            <a:pPr marL="0" indent="0" algn="ctr">
              <a:buNone/>
            </a:pPr>
            <a:r>
              <a:rPr lang="en-US" sz="1980" b="1" dirty="0">
                <a:solidFill>
                  <a:srgbClr val="FFC107"/>
                </a:solidFill>
                <a:latin typeface="Calibri" pitchFamily="34" charset="0"/>
                <a:ea typeface="Calibri" pitchFamily="34" charset="-122"/>
                <a:cs typeface="Calibri" pitchFamily="34" charset="-120"/>
              </a:rPr>
              <a:t>1</a:t>
            </a:r>
            <a:endParaRPr lang="en-US" sz="1980" dirty="0"/>
          </a:p>
        </p:txBody>
      </p:sp>
      <p:sp>
        <p:nvSpPr>
          <p:cNvPr id="7" name="Text 5"/>
          <p:cNvSpPr/>
          <p:nvPr/>
        </p:nvSpPr>
        <p:spPr>
          <a:xfrm>
            <a:off x="1463040" y="1819656"/>
            <a:ext cx="402336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Problem Statement</a:t>
            </a:r>
            <a:endParaRPr lang="en-US" sz="1600" dirty="0"/>
          </a:p>
        </p:txBody>
      </p:sp>
      <p:sp>
        <p:nvSpPr>
          <p:cNvPr id="8" name="Text 6"/>
          <p:cNvSpPr/>
          <p:nvPr/>
        </p:nvSpPr>
        <p:spPr>
          <a:xfrm>
            <a:off x="1463040" y="2221992"/>
            <a:ext cx="4023360" cy="640080"/>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Why manual car-rental tracking fails</a:t>
            </a:r>
            <a:endParaRPr lang="en-US" sz="1250" dirty="0"/>
          </a:p>
        </p:txBody>
      </p:sp>
      <p:sp>
        <p:nvSpPr>
          <p:cNvPr id="9" name="Shape 7"/>
          <p:cNvSpPr/>
          <p:nvPr/>
        </p:nvSpPr>
        <p:spPr>
          <a:xfrm>
            <a:off x="6126480" y="1600200"/>
            <a:ext cx="5212080" cy="1417320"/>
          </a:xfrm>
          <a:prstGeom prst="roundRect">
            <a:avLst>
              <a:gd name="adj" fmla="val 3871"/>
            </a:avLst>
          </a:prstGeom>
          <a:solidFill>
            <a:srgbClr val="F4F6F8"/>
          </a:solidFill>
          <a:ln/>
        </p:spPr>
      </p:sp>
      <p:sp>
        <p:nvSpPr>
          <p:cNvPr id="10" name="Shape 8"/>
          <p:cNvSpPr/>
          <p:nvPr/>
        </p:nvSpPr>
        <p:spPr>
          <a:xfrm>
            <a:off x="6382512" y="1856232"/>
            <a:ext cx="548640" cy="548640"/>
          </a:xfrm>
          <a:prstGeom prst="ellipse">
            <a:avLst/>
          </a:prstGeom>
          <a:solidFill>
            <a:srgbClr val="1B2430"/>
          </a:solidFill>
          <a:ln/>
        </p:spPr>
      </p:sp>
      <p:sp>
        <p:nvSpPr>
          <p:cNvPr id="11" name="Text 9"/>
          <p:cNvSpPr/>
          <p:nvPr/>
        </p:nvSpPr>
        <p:spPr>
          <a:xfrm>
            <a:off x="6382512" y="1837944"/>
            <a:ext cx="548640" cy="548640"/>
          </a:xfrm>
          <a:prstGeom prst="rect">
            <a:avLst/>
          </a:prstGeom>
          <a:noFill/>
          <a:ln/>
        </p:spPr>
        <p:txBody>
          <a:bodyPr wrap="square" rtlCol="0" anchor="ctr"/>
          <a:lstStyle/>
          <a:p>
            <a:pPr marL="0" indent="0" algn="ctr">
              <a:buNone/>
            </a:pPr>
            <a:r>
              <a:rPr lang="en-US" sz="1980" b="1" dirty="0">
                <a:solidFill>
                  <a:srgbClr val="FFC107"/>
                </a:solidFill>
                <a:latin typeface="Calibri" pitchFamily="34" charset="0"/>
                <a:ea typeface="Calibri" pitchFamily="34" charset="-122"/>
                <a:cs typeface="Calibri" pitchFamily="34" charset="-120"/>
              </a:rPr>
              <a:t>2</a:t>
            </a:r>
            <a:endParaRPr lang="en-US" sz="1980" dirty="0"/>
          </a:p>
        </p:txBody>
      </p:sp>
      <p:sp>
        <p:nvSpPr>
          <p:cNvPr id="12" name="Text 10"/>
          <p:cNvSpPr/>
          <p:nvPr/>
        </p:nvSpPr>
        <p:spPr>
          <a:xfrm>
            <a:off x="7132320" y="1819656"/>
            <a:ext cx="402336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Objectives &amp; Scope</a:t>
            </a:r>
            <a:endParaRPr lang="en-US" sz="1600" dirty="0"/>
          </a:p>
        </p:txBody>
      </p:sp>
      <p:sp>
        <p:nvSpPr>
          <p:cNvPr id="13" name="Text 11"/>
          <p:cNvSpPr/>
          <p:nvPr/>
        </p:nvSpPr>
        <p:spPr>
          <a:xfrm>
            <a:off x="7132320" y="2221992"/>
            <a:ext cx="4023360" cy="640080"/>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What the system will and won't do</a:t>
            </a:r>
            <a:endParaRPr lang="en-US" sz="1250" dirty="0"/>
          </a:p>
        </p:txBody>
      </p:sp>
      <p:sp>
        <p:nvSpPr>
          <p:cNvPr id="14" name="Shape 12"/>
          <p:cNvSpPr/>
          <p:nvPr/>
        </p:nvSpPr>
        <p:spPr>
          <a:xfrm>
            <a:off x="457200" y="3291840"/>
            <a:ext cx="5212080" cy="1417320"/>
          </a:xfrm>
          <a:prstGeom prst="roundRect">
            <a:avLst>
              <a:gd name="adj" fmla="val 3871"/>
            </a:avLst>
          </a:prstGeom>
          <a:solidFill>
            <a:srgbClr val="F4F6F8"/>
          </a:solidFill>
          <a:ln/>
        </p:spPr>
      </p:sp>
      <p:sp>
        <p:nvSpPr>
          <p:cNvPr id="15" name="Shape 13"/>
          <p:cNvSpPr/>
          <p:nvPr/>
        </p:nvSpPr>
        <p:spPr>
          <a:xfrm>
            <a:off x="713232" y="3547872"/>
            <a:ext cx="548640" cy="548640"/>
          </a:xfrm>
          <a:prstGeom prst="ellipse">
            <a:avLst/>
          </a:prstGeom>
          <a:solidFill>
            <a:srgbClr val="1B2430"/>
          </a:solidFill>
          <a:ln/>
        </p:spPr>
      </p:sp>
      <p:sp>
        <p:nvSpPr>
          <p:cNvPr id="16" name="Text 14"/>
          <p:cNvSpPr/>
          <p:nvPr/>
        </p:nvSpPr>
        <p:spPr>
          <a:xfrm>
            <a:off x="713232" y="3529584"/>
            <a:ext cx="548640" cy="548640"/>
          </a:xfrm>
          <a:prstGeom prst="rect">
            <a:avLst/>
          </a:prstGeom>
          <a:noFill/>
          <a:ln/>
        </p:spPr>
        <p:txBody>
          <a:bodyPr wrap="square" rtlCol="0" anchor="ctr"/>
          <a:lstStyle/>
          <a:p>
            <a:pPr marL="0" indent="0" algn="ctr">
              <a:buNone/>
            </a:pPr>
            <a:r>
              <a:rPr lang="en-US" sz="1980" b="1" dirty="0">
                <a:solidFill>
                  <a:srgbClr val="FFC107"/>
                </a:solidFill>
                <a:latin typeface="Calibri" pitchFamily="34" charset="0"/>
                <a:ea typeface="Calibri" pitchFamily="34" charset="-122"/>
                <a:cs typeface="Calibri" pitchFamily="34" charset="-120"/>
              </a:rPr>
              <a:t>3</a:t>
            </a:r>
            <a:endParaRPr lang="en-US" sz="1980" dirty="0"/>
          </a:p>
        </p:txBody>
      </p:sp>
      <p:sp>
        <p:nvSpPr>
          <p:cNvPr id="17" name="Text 15"/>
          <p:cNvSpPr/>
          <p:nvPr/>
        </p:nvSpPr>
        <p:spPr>
          <a:xfrm>
            <a:off x="1463040" y="3511296"/>
            <a:ext cx="402336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Users &amp; Requirements</a:t>
            </a:r>
            <a:endParaRPr lang="en-US" sz="1600" dirty="0"/>
          </a:p>
        </p:txBody>
      </p:sp>
      <p:sp>
        <p:nvSpPr>
          <p:cNvPr id="18" name="Text 16"/>
          <p:cNvSpPr/>
          <p:nvPr/>
        </p:nvSpPr>
        <p:spPr>
          <a:xfrm>
            <a:off x="1463040" y="3913632"/>
            <a:ext cx="4023360" cy="640080"/>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Who uses the system, and how</a:t>
            </a:r>
            <a:endParaRPr lang="en-US" sz="1250" dirty="0"/>
          </a:p>
        </p:txBody>
      </p:sp>
      <p:sp>
        <p:nvSpPr>
          <p:cNvPr id="19" name="Shape 17"/>
          <p:cNvSpPr/>
          <p:nvPr/>
        </p:nvSpPr>
        <p:spPr>
          <a:xfrm>
            <a:off x="6126480" y="3291840"/>
            <a:ext cx="5212080" cy="1417320"/>
          </a:xfrm>
          <a:prstGeom prst="roundRect">
            <a:avLst>
              <a:gd name="adj" fmla="val 3871"/>
            </a:avLst>
          </a:prstGeom>
          <a:solidFill>
            <a:srgbClr val="F4F6F8"/>
          </a:solidFill>
          <a:ln/>
        </p:spPr>
      </p:sp>
      <p:sp>
        <p:nvSpPr>
          <p:cNvPr id="20" name="Shape 18"/>
          <p:cNvSpPr/>
          <p:nvPr/>
        </p:nvSpPr>
        <p:spPr>
          <a:xfrm>
            <a:off x="6382512" y="3547872"/>
            <a:ext cx="548640" cy="548640"/>
          </a:xfrm>
          <a:prstGeom prst="ellipse">
            <a:avLst/>
          </a:prstGeom>
          <a:solidFill>
            <a:srgbClr val="1B2430"/>
          </a:solidFill>
          <a:ln/>
        </p:spPr>
      </p:sp>
      <p:sp>
        <p:nvSpPr>
          <p:cNvPr id="21" name="Text 19"/>
          <p:cNvSpPr/>
          <p:nvPr/>
        </p:nvSpPr>
        <p:spPr>
          <a:xfrm>
            <a:off x="6382512" y="3529584"/>
            <a:ext cx="548640" cy="548640"/>
          </a:xfrm>
          <a:prstGeom prst="rect">
            <a:avLst/>
          </a:prstGeom>
          <a:noFill/>
          <a:ln/>
        </p:spPr>
        <p:txBody>
          <a:bodyPr wrap="square" rtlCol="0" anchor="ctr"/>
          <a:lstStyle/>
          <a:p>
            <a:pPr marL="0" indent="0" algn="ctr">
              <a:buNone/>
            </a:pPr>
            <a:r>
              <a:rPr lang="en-US" sz="1980" b="1" dirty="0">
                <a:solidFill>
                  <a:srgbClr val="FFC107"/>
                </a:solidFill>
                <a:latin typeface="Calibri" pitchFamily="34" charset="0"/>
                <a:ea typeface="Calibri" pitchFamily="34" charset="-122"/>
                <a:cs typeface="Calibri" pitchFamily="34" charset="-120"/>
              </a:rPr>
              <a:t>4</a:t>
            </a:r>
            <a:endParaRPr lang="en-US" sz="1980" dirty="0"/>
          </a:p>
        </p:txBody>
      </p:sp>
      <p:sp>
        <p:nvSpPr>
          <p:cNvPr id="22" name="Text 20"/>
          <p:cNvSpPr/>
          <p:nvPr/>
        </p:nvSpPr>
        <p:spPr>
          <a:xfrm>
            <a:off x="7132320" y="3511296"/>
            <a:ext cx="402336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ER Model</a:t>
            </a:r>
            <a:endParaRPr lang="en-US" sz="1600" dirty="0"/>
          </a:p>
        </p:txBody>
      </p:sp>
      <p:sp>
        <p:nvSpPr>
          <p:cNvPr id="23" name="Text 21"/>
          <p:cNvSpPr/>
          <p:nvPr/>
        </p:nvSpPr>
        <p:spPr>
          <a:xfrm>
            <a:off x="7132320" y="3913632"/>
            <a:ext cx="4023360" cy="640080"/>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11 entities and how they relate</a:t>
            </a:r>
            <a:endParaRPr lang="en-US" sz="1250" dirty="0"/>
          </a:p>
        </p:txBody>
      </p:sp>
      <p:sp>
        <p:nvSpPr>
          <p:cNvPr id="24" name="Shape 22"/>
          <p:cNvSpPr/>
          <p:nvPr/>
        </p:nvSpPr>
        <p:spPr>
          <a:xfrm>
            <a:off x="457200" y="4983480"/>
            <a:ext cx="5212080" cy="1417320"/>
          </a:xfrm>
          <a:prstGeom prst="roundRect">
            <a:avLst>
              <a:gd name="adj" fmla="val 3871"/>
            </a:avLst>
          </a:prstGeom>
          <a:solidFill>
            <a:srgbClr val="F4F6F8"/>
          </a:solidFill>
          <a:ln/>
        </p:spPr>
      </p:sp>
      <p:sp>
        <p:nvSpPr>
          <p:cNvPr id="25" name="Shape 23"/>
          <p:cNvSpPr/>
          <p:nvPr/>
        </p:nvSpPr>
        <p:spPr>
          <a:xfrm>
            <a:off x="713232" y="5239512"/>
            <a:ext cx="548640" cy="548640"/>
          </a:xfrm>
          <a:prstGeom prst="ellipse">
            <a:avLst/>
          </a:prstGeom>
          <a:solidFill>
            <a:srgbClr val="1B2430"/>
          </a:solidFill>
          <a:ln/>
        </p:spPr>
      </p:sp>
      <p:sp>
        <p:nvSpPr>
          <p:cNvPr id="26" name="Text 24"/>
          <p:cNvSpPr/>
          <p:nvPr/>
        </p:nvSpPr>
        <p:spPr>
          <a:xfrm>
            <a:off x="713232" y="5221224"/>
            <a:ext cx="548640" cy="548640"/>
          </a:xfrm>
          <a:prstGeom prst="rect">
            <a:avLst/>
          </a:prstGeom>
          <a:noFill/>
          <a:ln/>
        </p:spPr>
        <p:txBody>
          <a:bodyPr wrap="square" rtlCol="0" anchor="ctr"/>
          <a:lstStyle/>
          <a:p>
            <a:pPr marL="0" indent="0" algn="ctr">
              <a:buNone/>
            </a:pPr>
            <a:r>
              <a:rPr lang="en-US" sz="1980" b="1" dirty="0">
                <a:solidFill>
                  <a:srgbClr val="FFC107"/>
                </a:solidFill>
                <a:latin typeface="Calibri" pitchFamily="34" charset="0"/>
                <a:ea typeface="Calibri" pitchFamily="34" charset="-122"/>
                <a:cs typeface="Calibri" pitchFamily="34" charset="-120"/>
              </a:rPr>
              <a:t>5</a:t>
            </a:r>
            <a:endParaRPr lang="en-US" sz="1980" dirty="0"/>
          </a:p>
        </p:txBody>
      </p:sp>
      <p:sp>
        <p:nvSpPr>
          <p:cNvPr id="27" name="Text 25"/>
          <p:cNvSpPr/>
          <p:nvPr/>
        </p:nvSpPr>
        <p:spPr>
          <a:xfrm>
            <a:off x="1463040" y="5202936"/>
            <a:ext cx="402336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Business Rules</a:t>
            </a:r>
            <a:endParaRPr lang="en-US" sz="1600" dirty="0"/>
          </a:p>
        </p:txBody>
      </p:sp>
      <p:sp>
        <p:nvSpPr>
          <p:cNvPr id="28" name="Text 26"/>
          <p:cNvSpPr/>
          <p:nvPr/>
        </p:nvSpPr>
        <p:spPr>
          <a:xfrm>
            <a:off x="1463040" y="5605272"/>
            <a:ext cx="4023360" cy="640080"/>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5 rules the database must enforce</a:t>
            </a:r>
            <a:endParaRPr lang="en-US" sz="1250" dirty="0"/>
          </a:p>
        </p:txBody>
      </p:sp>
      <p:sp>
        <p:nvSpPr>
          <p:cNvPr id="29" name="Shape 27"/>
          <p:cNvSpPr/>
          <p:nvPr/>
        </p:nvSpPr>
        <p:spPr>
          <a:xfrm>
            <a:off x="6126480" y="4983480"/>
            <a:ext cx="5212080" cy="1417320"/>
          </a:xfrm>
          <a:prstGeom prst="roundRect">
            <a:avLst>
              <a:gd name="adj" fmla="val 3871"/>
            </a:avLst>
          </a:prstGeom>
          <a:solidFill>
            <a:srgbClr val="F4F6F8"/>
          </a:solidFill>
          <a:ln/>
        </p:spPr>
      </p:sp>
      <p:sp>
        <p:nvSpPr>
          <p:cNvPr id="30" name="Shape 28"/>
          <p:cNvSpPr/>
          <p:nvPr/>
        </p:nvSpPr>
        <p:spPr>
          <a:xfrm>
            <a:off x="6382512" y="5239512"/>
            <a:ext cx="548640" cy="548640"/>
          </a:xfrm>
          <a:prstGeom prst="ellipse">
            <a:avLst/>
          </a:prstGeom>
          <a:solidFill>
            <a:srgbClr val="1B2430"/>
          </a:solidFill>
          <a:ln/>
        </p:spPr>
      </p:sp>
      <p:sp>
        <p:nvSpPr>
          <p:cNvPr id="31" name="Text 29"/>
          <p:cNvSpPr/>
          <p:nvPr/>
        </p:nvSpPr>
        <p:spPr>
          <a:xfrm>
            <a:off x="6382512" y="5221224"/>
            <a:ext cx="548640" cy="548640"/>
          </a:xfrm>
          <a:prstGeom prst="rect">
            <a:avLst/>
          </a:prstGeom>
          <a:noFill/>
          <a:ln/>
        </p:spPr>
        <p:txBody>
          <a:bodyPr wrap="square" rtlCol="0" anchor="ctr"/>
          <a:lstStyle/>
          <a:p>
            <a:pPr marL="0" indent="0" algn="ctr">
              <a:buNone/>
            </a:pPr>
            <a:r>
              <a:rPr lang="en-US" sz="1980" b="1" dirty="0">
                <a:solidFill>
                  <a:srgbClr val="FFC107"/>
                </a:solidFill>
                <a:latin typeface="Calibri" pitchFamily="34" charset="0"/>
                <a:ea typeface="Calibri" pitchFamily="34" charset="-122"/>
                <a:cs typeface="Calibri" pitchFamily="34" charset="-120"/>
              </a:rPr>
              <a:t>6</a:t>
            </a:r>
            <a:endParaRPr lang="en-US" sz="1980" dirty="0"/>
          </a:p>
        </p:txBody>
      </p:sp>
      <p:sp>
        <p:nvSpPr>
          <p:cNvPr id="32" name="Text 30"/>
          <p:cNvSpPr/>
          <p:nvPr/>
        </p:nvSpPr>
        <p:spPr>
          <a:xfrm>
            <a:off x="7132320" y="5202936"/>
            <a:ext cx="402336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Initial Schema</a:t>
            </a:r>
            <a:endParaRPr lang="en-US" sz="1600" dirty="0"/>
          </a:p>
        </p:txBody>
      </p:sp>
      <p:sp>
        <p:nvSpPr>
          <p:cNvPr id="33" name="Text 31"/>
          <p:cNvSpPr/>
          <p:nvPr/>
        </p:nvSpPr>
        <p:spPr>
          <a:xfrm>
            <a:off x="7132320" y="5605272"/>
            <a:ext cx="4023360" cy="640080"/>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Tables, keys, and what's next</a:t>
            </a:r>
            <a:endParaRPr lang="en-US" sz="1250" dirty="0"/>
          </a:p>
        </p:txBody>
      </p:sp>
      <p:sp>
        <p:nvSpPr>
          <p:cNvPr id="34" name="Text 32"/>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35" name="Text 33"/>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Manual Tracking Breaks Down at Scale</a:t>
            </a:r>
            <a:endParaRPr lang="en-US" sz="3000" dirty="0"/>
          </a:p>
        </p:txBody>
      </p:sp>
      <p:sp>
        <p:nvSpPr>
          <p:cNvPr id="4" name="Text 2"/>
          <p:cNvSpPr/>
          <p:nvPr/>
        </p:nvSpPr>
        <p:spPr>
          <a:xfrm>
            <a:off x="457200" y="1417320"/>
            <a:ext cx="6035040" cy="1371600"/>
          </a:xfrm>
          <a:prstGeom prst="rect">
            <a:avLst/>
          </a:prstGeom>
          <a:noFill/>
          <a:ln/>
        </p:spPr>
        <p:txBody>
          <a:bodyPr wrap="square" rtlCol="0" anchor="ctr"/>
          <a:lstStyle/>
          <a:p>
            <a:pPr marL="0" indent="0">
              <a:lnSpc>
                <a:spcPct val="125000"/>
              </a:lnSpc>
              <a:buNone/>
            </a:pPr>
            <a:r>
              <a:rPr lang="en-US" sz="1400" dirty="0">
                <a:solidFill>
                  <a:srgbClr val="3C4450"/>
                </a:solidFill>
                <a:latin typeface="Calibri" pitchFamily="34" charset="0"/>
                <a:ea typeface="Calibri" pitchFamily="34" charset="-122"/>
                <a:cs typeface="Calibri" pitchFamily="34" charset="-120"/>
              </a:rPr>
              <a:t>Car-rental agencies operating multiple branches currently track vehicle availability, customer records, bookings, and billing manually or across disconnected spreadsheets. As fleet size and branch count grow, this approach fails in predictable ways.</a:t>
            </a:r>
            <a:endParaRPr lang="en-US" sz="1400" dirty="0"/>
          </a:p>
        </p:txBody>
      </p:sp>
      <p:sp>
        <p:nvSpPr>
          <p:cNvPr id="5" name="Shape 3"/>
          <p:cNvSpPr/>
          <p:nvPr/>
        </p:nvSpPr>
        <p:spPr>
          <a:xfrm>
            <a:off x="457200" y="2889504"/>
            <a:ext cx="91440" cy="91440"/>
          </a:xfrm>
          <a:prstGeom prst="ellipse">
            <a:avLst/>
          </a:prstGeom>
          <a:solidFill>
            <a:srgbClr val="FFC107"/>
          </a:solidFill>
          <a:ln/>
        </p:spPr>
      </p:sp>
      <p:sp>
        <p:nvSpPr>
          <p:cNvPr id="6" name="Text 4"/>
          <p:cNvSpPr/>
          <p:nvPr/>
        </p:nvSpPr>
        <p:spPr>
          <a:xfrm>
            <a:off x="713232" y="2761488"/>
            <a:ext cx="5760720" cy="457200"/>
          </a:xfrm>
          <a:prstGeom prst="rect">
            <a:avLst/>
          </a:prstGeom>
          <a:noFill/>
          <a:ln/>
        </p:spPr>
        <p:txBody>
          <a:bodyPr wrap="square" rtlCol="0" anchor="ctr"/>
          <a:lstStyle/>
          <a:p>
            <a:pPr marL="0" indent="0">
              <a:buNone/>
            </a:pPr>
            <a:r>
              <a:rPr lang="en-US" sz="1300" dirty="0">
                <a:solidFill>
                  <a:srgbClr val="3C4450"/>
                </a:solidFill>
                <a:latin typeface="Calibri" pitchFamily="34" charset="0"/>
                <a:ea typeface="Calibri" pitchFamily="34" charset="-122"/>
                <a:cs typeface="Calibri" pitchFamily="34" charset="-120"/>
              </a:rPr>
              <a:t>No single source of truth for which vehicle is free, where, and when</a:t>
            </a:r>
            <a:endParaRPr lang="en-US" sz="1300" dirty="0"/>
          </a:p>
        </p:txBody>
      </p:sp>
      <p:sp>
        <p:nvSpPr>
          <p:cNvPr id="7" name="Shape 5"/>
          <p:cNvSpPr/>
          <p:nvPr/>
        </p:nvSpPr>
        <p:spPr>
          <a:xfrm>
            <a:off x="457200" y="3456432"/>
            <a:ext cx="91440" cy="91440"/>
          </a:xfrm>
          <a:prstGeom prst="ellipse">
            <a:avLst/>
          </a:prstGeom>
          <a:solidFill>
            <a:srgbClr val="FFC107"/>
          </a:solidFill>
          <a:ln/>
        </p:spPr>
      </p:sp>
      <p:sp>
        <p:nvSpPr>
          <p:cNvPr id="8" name="Text 6"/>
          <p:cNvSpPr/>
          <p:nvPr/>
        </p:nvSpPr>
        <p:spPr>
          <a:xfrm>
            <a:off x="713232" y="3328416"/>
            <a:ext cx="5760720" cy="457200"/>
          </a:xfrm>
          <a:prstGeom prst="rect">
            <a:avLst/>
          </a:prstGeom>
          <a:noFill/>
          <a:ln/>
        </p:spPr>
        <p:txBody>
          <a:bodyPr wrap="square" rtlCol="0" anchor="ctr"/>
          <a:lstStyle/>
          <a:p>
            <a:pPr marL="0" indent="0">
              <a:buNone/>
            </a:pPr>
            <a:r>
              <a:rPr lang="en-US" sz="1300" dirty="0">
                <a:solidFill>
                  <a:srgbClr val="3C4450"/>
                </a:solidFill>
                <a:latin typeface="Calibri" pitchFamily="34" charset="0"/>
                <a:ea typeface="Calibri" pitchFamily="34" charset="-122"/>
                <a:cs typeface="Calibri" pitchFamily="34" charset="-120"/>
              </a:rPr>
              <a:t>Reservations aren't checked against existing bookings before confirming</a:t>
            </a:r>
            <a:endParaRPr lang="en-US" sz="1300" dirty="0"/>
          </a:p>
        </p:txBody>
      </p:sp>
      <p:sp>
        <p:nvSpPr>
          <p:cNvPr id="9" name="Shape 7"/>
          <p:cNvSpPr/>
          <p:nvPr/>
        </p:nvSpPr>
        <p:spPr>
          <a:xfrm>
            <a:off x="457200" y="4023360"/>
            <a:ext cx="91440" cy="91440"/>
          </a:xfrm>
          <a:prstGeom prst="ellipse">
            <a:avLst/>
          </a:prstGeom>
          <a:solidFill>
            <a:srgbClr val="FFC107"/>
          </a:solidFill>
          <a:ln/>
        </p:spPr>
      </p:sp>
      <p:sp>
        <p:nvSpPr>
          <p:cNvPr id="10" name="Text 8"/>
          <p:cNvSpPr/>
          <p:nvPr/>
        </p:nvSpPr>
        <p:spPr>
          <a:xfrm>
            <a:off x="713232" y="3895344"/>
            <a:ext cx="5760720" cy="457200"/>
          </a:xfrm>
          <a:prstGeom prst="rect">
            <a:avLst/>
          </a:prstGeom>
          <a:noFill/>
          <a:ln/>
        </p:spPr>
        <p:txBody>
          <a:bodyPr wrap="square" rtlCol="0" anchor="ctr"/>
          <a:lstStyle/>
          <a:p>
            <a:pPr marL="0" indent="0">
              <a:buNone/>
            </a:pPr>
            <a:r>
              <a:rPr lang="en-US" sz="1300" dirty="0">
                <a:solidFill>
                  <a:srgbClr val="3C4450"/>
                </a:solidFill>
                <a:latin typeface="Calibri" pitchFamily="34" charset="0"/>
                <a:ea typeface="Calibri" pitchFamily="34" charset="-122"/>
                <a:cs typeface="Calibri" pitchFamily="34" charset="-120"/>
              </a:rPr>
              <a:t>No structured record of vehicle condition at pickup vs. return</a:t>
            </a:r>
            <a:endParaRPr lang="en-US" sz="1300" dirty="0"/>
          </a:p>
        </p:txBody>
      </p:sp>
      <p:sp>
        <p:nvSpPr>
          <p:cNvPr id="11" name="Shape 9"/>
          <p:cNvSpPr/>
          <p:nvPr/>
        </p:nvSpPr>
        <p:spPr>
          <a:xfrm>
            <a:off x="457200" y="4590288"/>
            <a:ext cx="91440" cy="91440"/>
          </a:xfrm>
          <a:prstGeom prst="ellipse">
            <a:avLst/>
          </a:prstGeom>
          <a:solidFill>
            <a:srgbClr val="FFC107"/>
          </a:solidFill>
          <a:ln/>
        </p:spPr>
      </p:sp>
      <p:sp>
        <p:nvSpPr>
          <p:cNvPr id="12" name="Text 10"/>
          <p:cNvSpPr/>
          <p:nvPr/>
        </p:nvSpPr>
        <p:spPr>
          <a:xfrm>
            <a:off x="713232" y="4462272"/>
            <a:ext cx="5760720" cy="457200"/>
          </a:xfrm>
          <a:prstGeom prst="rect">
            <a:avLst/>
          </a:prstGeom>
          <a:noFill/>
          <a:ln/>
        </p:spPr>
        <p:txBody>
          <a:bodyPr wrap="square" rtlCol="0" anchor="ctr"/>
          <a:lstStyle/>
          <a:p>
            <a:pPr marL="0" indent="0">
              <a:buNone/>
            </a:pPr>
            <a:r>
              <a:rPr lang="en-US" sz="1300" dirty="0">
                <a:solidFill>
                  <a:srgbClr val="3C4450"/>
                </a:solidFill>
                <a:latin typeface="Calibri" pitchFamily="34" charset="0"/>
                <a:ea typeface="Calibri" pitchFamily="34" charset="-122"/>
                <a:cs typeface="Calibri" pitchFamily="34" charset="-120"/>
              </a:rPr>
              <a:t>Renting to customers with an expired driving licence goes unnoticed</a:t>
            </a:r>
            <a:endParaRPr lang="en-US" sz="1300" dirty="0"/>
          </a:p>
        </p:txBody>
      </p:sp>
      <p:sp>
        <p:nvSpPr>
          <p:cNvPr id="13" name="Shape 11"/>
          <p:cNvSpPr/>
          <p:nvPr/>
        </p:nvSpPr>
        <p:spPr>
          <a:xfrm>
            <a:off x="6858000" y="1417320"/>
            <a:ext cx="4846320" cy="1051560"/>
          </a:xfrm>
          <a:prstGeom prst="roundRect">
            <a:avLst>
              <a:gd name="adj" fmla="val 5217"/>
            </a:avLst>
          </a:prstGeom>
          <a:solidFill>
            <a:srgbClr val="1B2430"/>
          </a:solidFill>
          <a:ln/>
        </p:spPr>
      </p:sp>
      <p:sp>
        <p:nvSpPr>
          <p:cNvPr id="14" name="Text 12"/>
          <p:cNvSpPr/>
          <p:nvPr/>
        </p:nvSpPr>
        <p:spPr>
          <a:xfrm>
            <a:off x="7086600" y="1527048"/>
            <a:ext cx="4389120" cy="365760"/>
          </a:xfrm>
          <a:prstGeom prst="rect">
            <a:avLst/>
          </a:prstGeom>
          <a:noFill/>
          <a:ln/>
        </p:spPr>
        <p:txBody>
          <a:bodyPr wrap="square" rtlCol="0" anchor="ctr"/>
          <a:lstStyle/>
          <a:p>
            <a:pPr marL="0" indent="0">
              <a:buNone/>
            </a:pPr>
            <a:r>
              <a:rPr lang="en-US" sz="1500" b="1" dirty="0">
                <a:solidFill>
                  <a:srgbClr val="FFC107"/>
                </a:solidFill>
                <a:latin typeface="Calibri" pitchFamily="34" charset="0"/>
                <a:ea typeface="Calibri" pitchFamily="34" charset="-122"/>
                <a:cs typeface="Calibri" pitchFamily="34" charset="-120"/>
              </a:rPr>
              <a:t>Double‑booking</a:t>
            </a:r>
            <a:endParaRPr lang="en-US" sz="1500" dirty="0"/>
          </a:p>
        </p:txBody>
      </p:sp>
      <p:sp>
        <p:nvSpPr>
          <p:cNvPr id="15" name="Text 13"/>
          <p:cNvSpPr/>
          <p:nvPr/>
        </p:nvSpPr>
        <p:spPr>
          <a:xfrm>
            <a:off x="7086600" y="1920240"/>
            <a:ext cx="4389120" cy="457200"/>
          </a:xfrm>
          <a:prstGeom prst="rect">
            <a:avLst/>
          </a:prstGeom>
          <a:noFill/>
          <a:ln/>
        </p:spPr>
        <p:txBody>
          <a:bodyPr wrap="square" rtlCol="0" anchor="ctr"/>
          <a:lstStyle/>
          <a:p>
            <a:pPr marL="0" indent="0">
              <a:buNone/>
            </a:pPr>
            <a:r>
              <a:rPr lang="en-US" sz="1200" dirty="0">
                <a:solidFill>
                  <a:srgbClr val="C9CED6"/>
                </a:solidFill>
                <a:latin typeface="Calibri" pitchFamily="34" charset="0"/>
                <a:ea typeface="Calibri" pitchFamily="34" charset="-122"/>
                <a:cs typeface="Calibri" pitchFamily="34" charset="-120"/>
              </a:rPr>
              <a:t>Same vehicle promised to two customers</a:t>
            </a:r>
            <a:endParaRPr lang="en-US" sz="1200" dirty="0"/>
          </a:p>
        </p:txBody>
      </p:sp>
      <p:sp>
        <p:nvSpPr>
          <p:cNvPr id="16" name="Shape 14"/>
          <p:cNvSpPr/>
          <p:nvPr/>
        </p:nvSpPr>
        <p:spPr>
          <a:xfrm>
            <a:off x="6858000" y="2697480"/>
            <a:ext cx="4846320" cy="1051560"/>
          </a:xfrm>
          <a:prstGeom prst="roundRect">
            <a:avLst>
              <a:gd name="adj" fmla="val 5217"/>
            </a:avLst>
          </a:prstGeom>
          <a:solidFill>
            <a:srgbClr val="1B2430"/>
          </a:solidFill>
          <a:ln/>
        </p:spPr>
      </p:sp>
      <p:sp>
        <p:nvSpPr>
          <p:cNvPr id="17" name="Text 15"/>
          <p:cNvSpPr/>
          <p:nvPr/>
        </p:nvSpPr>
        <p:spPr>
          <a:xfrm>
            <a:off x="7086600" y="2807208"/>
            <a:ext cx="4389120" cy="365760"/>
          </a:xfrm>
          <a:prstGeom prst="rect">
            <a:avLst/>
          </a:prstGeom>
          <a:noFill/>
          <a:ln/>
        </p:spPr>
        <p:txBody>
          <a:bodyPr wrap="square" rtlCol="0" anchor="ctr"/>
          <a:lstStyle/>
          <a:p>
            <a:pPr marL="0" indent="0">
              <a:buNone/>
            </a:pPr>
            <a:r>
              <a:rPr lang="en-US" sz="1500" b="1" dirty="0">
                <a:solidFill>
                  <a:srgbClr val="FFC107"/>
                </a:solidFill>
                <a:latin typeface="Calibri" pitchFamily="34" charset="0"/>
                <a:ea typeface="Calibri" pitchFamily="34" charset="-122"/>
                <a:cs typeface="Calibri" pitchFamily="34" charset="-120"/>
              </a:rPr>
              <a:t>Billing disputes</a:t>
            </a:r>
            <a:endParaRPr lang="en-US" sz="1500" dirty="0"/>
          </a:p>
        </p:txBody>
      </p:sp>
      <p:sp>
        <p:nvSpPr>
          <p:cNvPr id="18" name="Text 16"/>
          <p:cNvSpPr/>
          <p:nvPr/>
        </p:nvSpPr>
        <p:spPr>
          <a:xfrm>
            <a:off x="7086600" y="3200400"/>
            <a:ext cx="4389120" cy="457200"/>
          </a:xfrm>
          <a:prstGeom prst="rect">
            <a:avLst/>
          </a:prstGeom>
          <a:noFill/>
          <a:ln/>
        </p:spPr>
        <p:txBody>
          <a:bodyPr wrap="square" rtlCol="0" anchor="ctr"/>
          <a:lstStyle/>
          <a:p>
            <a:pPr marL="0" indent="0">
              <a:buNone/>
            </a:pPr>
            <a:r>
              <a:rPr lang="en-US" sz="1200" dirty="0">
                <a:solidFill>
                  <a:srgbClr val="C9CED6"/>
                </a:solidFill>
                <a:latin typeface="Calibri" pitchFamily="34" charset="0"/>
                <a:ea typeface="Calibri" pitchFamily="34" charset="-122"/>
                <a:cs typeface="Calibri" pitchFamily="34" charset="-120"/>
              </a:rPr>
              <a:t>No proof of pre-existing damage</a:t>
            </a:r>
            <a:endParaRPr lang="en-US" sz="1200" dirty="0"/>
          </a:p>
        </p:txBody>
      </p:sp>
      <p:sp>
        <p:nvSpPr>
          <p:cNvPr id="19" name="Shape 17"/>
          <p:cNvSpPr/>
          <p:nvPr/>
        </p:nvSpPr>
        <p:spPr>
          <a:xfrm>
            <a:off x="6858000" y="3977640"/>
            <a:ext cx="4846320" cy="1051560"/>
          </a:xfrm>
          <a:prstGeom prst="roundRect">
            <a:avLst>
              <a:gd name="adj" fmla="val 5217"/>
            </a:avLst>
          </a:prstGeom>
          <a:solidFill>
            <a:srgbClr val="1B2430"/>
          </a:solidFill>
          <a:ln/>
        </p:spPr>
      </p:sp>
      <p:sp>
        <p:nvSpPr>
          <p:cNvPr id="20" name="Text 18"/>
          <p:cNvSpPr/>
          <p:nvPr/>
        </p:nvSpPr>
        <p:spPr>
          <a:xfrm>
            <a:off x="7086600" y="4087368"/>
            <a:ext cx="4389120" cy="365760"/>
          </a:xfrm>
          <a:prstGeom prst="rect">
            <a:avLst/>
          </a:prstGeom>
          <a:noFill/>
          <a:ln/>
        </p:spPr>
        <p:txBody>
          <a:bodyPr wrap="square" rtlCol="0" anchor="ctr"/>
          <a:lstStyle/>
          <a:p>
            <a:pPr marL="0" indent="0">
              <a:buNone/>
            </a:pPr>
            <a:r>
              <a:rPr lang="en-US" sz="1500" b="1" dirty="0">
                <a:solidFill>
                  <a:srgbClr val="FFC107"/>
                </a:solidFill>
                <a:latin typeface="Calibri" pitchFamily="34" charset="0"/>
                <a:ea typeface="Calibri" pitchFamily="34" charset="-122"/>
                <a:cs typeface="Calibri" pitchFamily="34" charset="-120"/>
              </a:rPr>
              <a:t>Revenue leakage</a:t>
            </a:r>
            <a:endParaRPr lang="en-US" sz="1500" dirty="0"/>
          </a:p>
        </p:txBody>
      </p:sp>
      <p:sp>
        <p:nvSpPr>
          <p:cNvPr id="21" name="Text 19"/>
          <p:cNvSpPr/>
          <p:nvPr/>
        </p:nvSpPr>
        <p:spPr>
          <a:xfrm>
            <a:off x="7086600" y="4480560"/>
            <a:ext cx="4389120" cy="457200"/>
          </a:xfrm>
          <a:prstGeom prst="rect">
            <a:avLst/>
          </a:prstGeom>
          <a:noFill/>
          <a:ln/>
        </p:spPr>
        <p:txBody>
          <a:bodyPr wrap="square" rtlCol="0" anchor="ctr"/>
          <a:lstStyle/>
          <a:p>
            <a:pPr marL="0" indent="0">
              <a:buNone/>
            </a:pPr>
            <a:r>
              <a:rPr lang="en-US" sz="1200" dirty="0">
                <a:solidFill>
                  <a:srgbClr val="C9CED6"/>
                </a:solidFill>
                <a:latin typeface="Calibri" pitchFamily="34" charset="0"/>
                <a:ea typeface="Calibri" pitchFamily="34" charset="-122"/>
                <a:cs typeface="Calibri" pitchFamily="34" charset="-120"/>
              </a:rPr>
              <a:t>Missed late fees &amp; extra-km charges</a:t>
            </a:r>
            <a:endParaRPr lang="en-US" sz="1200" dirty="0"/>
          </a:p>
        </p:txBody>
      </p:sp>
      <p:sp>
        <p:nvSpPr>
          <p:cNvPr id="22" name="Text 20"/>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23" name="Text 21"/>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GOALS</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Objectives &amp; Scope</a:t>
            </a:r>
            <a:endParaRPr lang="en-US" sz="3000" dirty="0"/>
          </a:p>
        </p:txBody>
      </p:sp>
      <p:sp>
        <p:nvSpPr>
          <p:cNvPr id="4" name="Text 2"/>
          <p:cNvSpPr/>
          <p:nvPr/>
        </p:nvSpPr>
        <p:spPr>
          <a:xfrm>
            <a:off x="457200" y="1417320"/>
            <a:ext cx="5486400" cy="365760"/>
          </a:xfrm>
          <a:prstGeom prst="rect">
            <a:avLst/>
          </a:prstGeom>
          <a:noFill/>
          <a:ln/>
        </p:spPr>
        <p:txBody>
          <a:bodyPr wrap="square" rtlCol="0" anchor="ctr"/>
          <a:lstStyle/>
          <a:p>
            <a:pPr marL="0" indent="0">
              <a:buNone/>
            </a:pPr>
            <a:r>
              <a:rPr lang="en-US" sz="1600" b="1" dirty="0">
                <a:solidFill>
                  <a:srgbClr val="1B2430"/>
                </a:solidFill>
                <a:latin typeface="Calibri" pitchFamily="34" charset="0"/>
                <a:ea typeface="Calibri" pitchFamily="34" charset="-122"/>
                <a:cs typeface="Calibri" pitchFamily="34" charset="-120"/>
              </a:rPr>
              <a:t>Objective</a:t>
            </a:r>
            <a:endParaRPr lang="en-US" sz="1600" dirty="0"/>
          </a:p>
        </p:txBody>
      </p:sp>
      <p:sp>
        <p:nvSpPr>
          <p:cNvPr id="5" name="Text 3"/>
          <p:cNvSpPr/>
          <p:nvPr/>
        </p:nvSpPr>
        <p:spPr>
          <a:xfrm>
            <a:off x="457200" y="1828800"/>
            <a:ext cx="5669280" cy="1463040"/>
          </a:xfrm>
          <a:prstGeom prst="rect">
            <a:avLst/>
          </a:prstGeom>
          <a:noFill/>
          <a:ln/>
        </p:spPr>
        <p:txBody>
          <a:bodyPr wrap="square" rtlCol="0" anchor="ctr"/>
          <a:lstStyle/>
          <a:p>
            <a:pPr marL="0" indent="0">
              <a:lnSpc>
                <a:spcPct val="125000"/>
              </a:lnSpc>
              <a:buNone/>
            </a:pPr>
            <a:r>
              <a:rPr lang="en-US" sz="1350" dirty="0">
                <a:solidFill>
                  <a:srgbClr val="3C4450"/>
                </a:solidFill>
                <a:latin typeface="Calibri" pitchFamily="34" charset="0"/>
                <a:ea typeface="Calibri" pitchFamily="34" charset="-122"/>
                <a:cs typeface="Calibri" pitchFamily="34" charset="-120"/>
              </a:rPr>
              <a:t>Design a normalized relational database, enforced with integrity constraints, and a Java/Python front-end that gives branch staff one reliable system for availability, reservations, pickup/return inspections, billing, and reporting.</a:t>
            </a:r>
            <a:endParaRPr lang="en-US" sz="1350" dirty="0"/>
          </a:p>
        </p:txBody>
      </p:sp>
      <p:sp>
        <p:nvSpPr>
          <p:cNvPr id="6" name="Shape 4"/>
          <p:cNvSpPr/>
          <p:nvPr/>
        </p:nvSpPr>
        <p:spPr>
          <a:xfrm>
            <a:off x="457200" y="3429000"/>
            <a:ext cx="5669280" cy="2788920"/>
          </a:xfrm>
          <a:prstGeom prst="roundRect">
            <a:avLst>
              <a:gd name="adj" fmla="val 1967"/>
            </a:avLst>
          </a:prstGeom>
          <a:solidFill>
            <a:srgbClr val="F4F6F8"/>
          </a:solidFill>
          <a:ln/>
        </p:spPr>
      </p:sp>
      <p:sp>
        <p:nvSpPr>
          <p:cNvPr id="7" name="Text 5"/>
          <p:cNvSpPr/>
          <p:nvPr/>
        </p:nvSpPr>
        <p:spPr>
          <a:xfrm>
            <a:off x="685800" y="3611880"/>
            <a:ext cx="5212080" cy="365760"/>
          </a:xfrm>
          <a:prstGeom prst="rect">
            <a:avLst/>
          </a:prstGeom>
          <a:noFill/>
          <a:ln/>
        </p:spPr>
        <p:txBody>
          <a:bodyPr wrap="square"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In Scope</a:t>
            </a:r>
            <a:endParaRPr lang="en-US" sz="1400" dirty="0"/>
          </a:p>
        </p:txBody>
      </p:sp>
      <p:sp>
        <p:nvSpPr>
          <p:cNvPr id="8" name="Text 6"/>
          <p:cNvSpPr/>
          <p:nvPr/>
        </p:nvSpPr>
        <p:spPr>
          <a:xfrm>
            <a:off x="777240" y="4023360"/>
            <a:ext cx="5029200" cy="347472"/>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  Multi-branch fleet &amp; category-based pricing</a:t>
            </a:r>
            <a:endParaRPr lang="en-US" sz="1250" dirty="0"/>
          </a:p>
        </p:txBody>
      </p:sp>
      <p:sp>
        <p:nvSpPr>
          <p:cNvPr id="9" name="Text 7"/>
          <p:cNvSpPr/>
          <p:nvPr/>
        </p:nvSpPr>
        <p:spPr>
          <a:xfrm>
            <a:off x="777240" y="4407408"/>
            <a:ext cx="5029200" cy="347472"/>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  Reservation → rental conversion workflow</a:t>
            </a:r>
            <a:endParaRPr lang="en-US" sz="1250" dirty="0"/>
          </a:p>
        </p:txBody>
      </p:sp>
      <p:sp>
        <p:nvSpPr>
          <p:cNvPr id="10" name="Text 8"/>
          <p:cNvSpPr/>
          <p:nvPr/>
        </p:nvSpPr>
        <p:spPr>
          <a:xfrm>
            <a:off x="777240" y="4791456"/>
            <a:ext cx="5029200" cy="347472"/>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  Pickup / return condition inspection</a:t>
            </a:r>
            <a:endParaRPr lang="en-US" sz="1250" dirty="0"/>
          </a:p>
        </p:txBody>
      </p:sp>
      <p:sp>
        <p:nvSpPr>
          <p:cNvPr id="11" name="Text 9"/>
          <p:cNvSpPr/>
          <p:nvPr/>
        </p:nvSpPr>
        <p:spPr>
          <a:xfrm>
            <a:off x="777240" y="5175504"/>
            <a:ext cx="5029200" cy="347472"/>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  Damage, invoicing &amp; payment tracking</a:t>
            </a:r>
            <a:endParaRPr lang="en-US" sz="1250" dirty="0"/>
          </a:p>
        </p:txBody>
      </p:sp>
      <p:sp>
        <p:nvSpPr>
          <p:cNvPr id="12" name="Text 10"/>
          <p:cNvSpPr/>
          <p:nvPr/>
        </p:nvSpPr>
        <p:spPr>
          <a:xfrm>
            <a:off x="777240" y="5559552"/>
            <a:ext cx="5029200" cy="347472"/>
          </a:xfrm>
          <a:prstGeom prst="rect">
            <a:avLst/>
          </a:prstGeom>
          <a:noFill/>
          <a:ln/>
        </p:spPr>
        <p:txBody>
          <a:bodyPr wrap="square" rtlCol="0" anchor="ctr"/>
          <a:lstStyle/>
          <a:p>
            <a:pPr marL="0" indent="0">
              <a:buNone/>
            </a:pPr>
            <a:r>
              <a:rPr lang="en-US" sz="1250" dirty="0">
                <a:solidFill>
                  <a:srgbClr val="3C4450"/>
                </a:solidFill>
                <a:latin typeface="Calibri" pitchFamily="34" charset="0"/>
                <a:ea typeface="Calibri" pitchFamily="34" charset="-122"/>
                <a:cs typeface="Calibri" pitchFamily="34" charset="-120"/>
              </a:rPr>
              <a:t>✓  Fleet, revenue &amp; utilization reporting</a:t>
            </a:r>
            <a:endParaRPr lang="en-US" sz="1250" dirty="0"/>
          </a:p>
        </p:txBody>
      </p:sp>
      <p:sp>
        <p:nvSpPr>
          <p:cNvPr id="13" name="Shape 11"/>
          <p:cNvSpPr/>
          <p:nvPr/>
        </p:nvSpPr>
        <p:spPr>
          <a:xfrm>
            <a:off x="6355080" y="3429000"/>
            <a:ext cx="5394960" cy="2788920"/>
          </a:xfrm>
          <a:prstGeom prst="roundRect">
            <a:avLst>
              <a:gd name="adj" fmla="val 1967"/>
            </a:avLst>
          </a:prstGeom>
          <a:solidFill>
            <a:srgbClr val="1B2430"/>
          </a:solidFill>
          <a:ln/>
        </p:spPr>
      </p:sp>
      <p:sp>
        <p:nvSpPr>
          <p:cNvPr id="14" name="Text 12"/>
          <p:cNvSpPr/>
          <p:nvPr/>
        </p:nvSpPr>
        <p:spPr>
          <a:xfrm>
            <a:off x="6583680" y="3611880"/>
            <a:ext cx="4937760" cy="365760"/>
          </a:xfrm>
          <a:prstGeom prst="rect">
            <a:avLst/>
          </a:prstGeom>
          <a:noFill/>
          <a:ln/>
        </p:spPr>
        <p:txBody>
          <a:bodyPr wrap="square" rtlCol="0" anchor="ctr"/>
          <a:lstStyle/>
          <a:p>
            <a:pPr marL="0" indent="0">
              <a:buNone/>
            </a:pPr>
            <a:r>
              <a:rPr lang="en-US" sz="1400" b="1" dirty="0">
                <a:solidFill>
                  <a:srgbClr val="FFC107"/>
                </a:solidFill>
                <a:latin typeface="Calibri" pitchFamily="34" charset="0"/>
                <a:ea typeface="Calibri" pitchFamily="34" charset="-122"/>
                <a:cs typeface="Calibri" pitchFamily="34" charset="-120"/>
              </a:rPr>
              <a:t>Out of Scope (v1)</a:t>
            </a:r>
            <a:endParaRPr lang="en-US" sz="1400" dirty="0"/>
          </a:p>
        </p:txBody>
      </p:sp>
      <p:sp>
        <p:nvSpPr>
          <p:cNvPr id="15" name="Text 13"/>
          <p:cNvSpPr/>
          <p:nvPr/>
        </p:nvSpPr>
        <p:spPr>
          <a:xfrm>
            <a:off x="6675120" y="4023360"/>
            <a:ext cx="4846320" cy="347472"/>
          </a:xfrm>
          <a:prstGeom prst="rect">
            <a:avLst/>
          </a:prstGeom>
          <a:noFill/>
          <a:ln/>
        </p:spPr>
        <p:txBody>
          <a:bodyPr wrap="square" rtlCol="0" anchor="ctr"/>
          <a:lstStyle/>
          <a:p>
            <a:pPr marL="0" indent="0">
              <a:buNone/>
            </a:pPr>
            <a:r>
              <a:rPr lang="en-US" sz="1250" dirty="0">
                <a:solidFill>
                  <a:srgbClr val="C9CED6"/>
                </a:solidFill>
                <a:latin typeface="Calibri" pitchFamily="34" charset="0"/>
                <a:ea typeface="Calibri" pitchFamily="34" charset="-122"/>
                <a:cs typeface="Calibri" pitchFamily="34" charset="-120"/>
              </a:rPr>
              <a:t>✗  Online payment gateway integration</a:t>
            </a:r>
            <a:endParaRPr lang="en-US" sz="1250" dirty="0"/>
          </a:p>
        </p:txBody>
      </p:sp>
      <p:sp>
        <p:nvSpPr>
          <p:cNvPr id="16" name="Text 14"/>
          <p:cNvSpPr/>
          <p:nvPr/>
        </p:nvSpPr>
        <p:spPr>
          <a:xfrm>
            <a:off x="6675120" y="4407408"/>
            <a:ext cx="4846320" cy="347472"/>
          </a:xfrm>
          <a:prstGeom prst="rect">
            <a:avLst/>
          </a:prstGeom>
          <a:noFill/>
          <a:ln/>
        </p:spPr>
        <p:txBody>
          <a:bodyPr wrap="square" rtlCol="0" anchor="ctr"/>
          <a:lstStyle/>
          <a:p>
            <a:pPr marL="0" indent="0">
              <a:buNone/>
            </a:pPr>
            <a:r>
              <a:rPr lang="en-US" sz="1250" dirty="0">
                <a:solidFill>
                  <a:srgbClr val="C9CED6"/>
                </a:solidFill>
                <a:latin typeface="Calibri" pitchFamily="34" charset="0"/>
                <a:ea typeface="Calibri" pitchFamily="34" charset="-122"/>
                <a:cs typeface="Calibri" pitchFamily="34" charset="-120"/>
              </a:rPr>
              <a:t>✗  GPS / real-time vehicle tracking</a:t>
            </a:r>
            <a:endParaRPr lang="en-US" sz="1250" dirty="0"/>
          </a:p>
        </p:txBody>
      </p:sp>
      <p:sp>
        <p:nvSpPr>
          <p:cNvPr id="17" name="Text 15"/>
          <p:cNvSpPr/>
          <p:nvPr/>
        </p:nvSpPr>
        <p:spPr>
          <a:xfrm>
            <a:off x="6675120" y="4791456"/>
            <a:ext cx="4846320" cy="347472"/>
          </a:xfrm>
          <a:prstGeom prst="rect">
            <a:avLst/>
          </a:prstGeom>
          <a:noFill/>
          <a:ln/>
        </p:spPr>
        <p:txBody>
          <a:bodyPr wrap="square" rtlCol="0" anchor="ctr"/>
          <a:lstStyle/>
          <a:p>
            <a:pPr marL="0" indent="0">
              <a:buNone/>
            </a:pPr>
            <a:r>
              <a:rPr lang="en-US" sz="1250" dirty="0">
                <a:solidFill>
                  <a:srgbClr val="C9CED6"/>
                </a:solidFill>
                <a:latin typeface="Calibri" pitchFamily="34" charset="0"/>
                <a:ea typeface="Calibri" pitchFamily="34" charset="-122"/>
                <a:cs typeface="Calibri" pitchFamily="34" charset="-120"/>
              </a:rPr>
              <a:t>✗  Dynamic, demand-based pricing engine</a:t>
            </a:r>
            <a:endParaRPr lang="en-US" sz="1250" dirty="0"/>
          </a:p>
        </p:txBody>
      </p:sp>
      <p:sp>
        <p:nvSpPr>
          <p:cNvPr id="18" name="Text 16"/>
          <p:cNvSpPr/>
          <p:nvPr/>
        </p:nvSpPr>
        <p:spPr>
          <a:xfrm>
            <a:off x="6675120" y="5175504"/>
            <a:ext cx="4846320" cy="347472"/>
          </a:xfrm>
          <a:prstGeom prst="rect">
            <a:avLst/>
          </a:prstGeom>
          <a:noFill/>
          <a:ln/>
        </p:spPr>
        <p:txBody>
          <a:bodyPr wrap="square" rtlCol="0" anchor="ctr"/>
          <a:lstStyle/>
          <a:p>
            <a:pPr marL="0" indent="0">
              <a:buNone/>
            </a:pPr>
            <a:r>
              <a:rPr lang="en-US" sz="1250" dirty="0">
                <a:solidFill>
                  <a:srgbClr val="C9CED6"/>
                </a:solidFill>
                <a:latin typeface="Calibri" pitchFamily="34" charset="0"/>
                <a:ea typeface="Calibri" pitchFamily="34" charset="-122"/>
                <a:cs typeface="Calibri" pitchFamily="34" charset="-120"/>
              </a:rPr>
              <a:t>✗  Mobile app front-end</a:t>
            </a:r>
            <a:endParaRPr lang="en-US" sz="1250" dirty="0"/>
          </a:p>
        </p:txBody>
      </p:sp>
      <p:sp>
        <p:nvSpPr>
          <p:cNvPr id="19" name="Text 17"/>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20" name="Text 18"/>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STAKEHOLDERS</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Users &amp; What They Need</a:t>
            </a:r>
            <a:endParaRPr lang="en-US" sz="3000" dirty="0"/>
          </a:p>
        </p:txBody>
      </p:sp>
      <p:sp>
        <p:nvSpPr>
          <p:cNvPr id="4" name="Shape 2"/>
          <p:cNvSpPr/>
          <p:nvPr/>
        </p:nvSpPr>
        <p:spPr>
          <a:xfrm>
            <a:off x="457200" y="1600200"/>
            <a:ext cx="3566160" cy="3291840"/>
          </a:xfrm>
          <a:prstGeom prst="roundRect">
            <a:avLst>
              <a:gd name="adj" fmla="val 1667"/>
            </a:avLst>
          </a:prstGeom>
          <a:solidFill>
            <a:srgbClr val="F4F6F8"/>
          </a:solidFill>
          <a:ln/>
        </p:spPr>
      </p:sp>
      <p:sp>
        <p:nvSpPr>
          <p:cNvPr id="5" name="Shape 3"/>
          <p:cNvSpPr/>
          <p:nvPr/>
        </p:nvSpPr>
        <p:spPr>
          <a:xfrm>
            <a:off x="1783080" y="1828800"/>
            <a:ext cx="914400" cy="914400"/>
          </a:xfrm>
          <a:prstGeom prst="ellipse">
            <a:avLst/>
          </a:prstGeom>
          <a:solidFill>
            <a:srgbClr val="1B2430"/>
          </a:solidFill>
          <a:ln/>
        </p:spPr>
      </p:sp>
      <p:sp>
        <p:nvSpPr>
          <p:cNvPr id="6" name="Shape 4"/>
          <p:cNvSpPr/>
          <p:nvPr/>
        </p:nvSpPr>
        <p:spPr>
          <a:xfrm>
            <a:off x="1954530" y="2253996"/>
            <a:ext cx="571500" cy="228600"/>
          </a:xfrm>
          <a:prstGeom prst="roundRect">
            <a:avLst>
              <a:gd name="adj" fmla="val 24000"/>
            </a:avLst>
          </a:prstGeom>
          <a:solidFill>
            <a:srgbClr val="FFC107"/>
          </a:solidFill>
          <a:ln/>
        </p:spPr>
      </p:sp>
      <p:sp>
        <p:nvSpPr>
          <p:cNvPr id="7" name="Shape 5"/>
          <p:cNvSpPr/>
          <p:nvPr/>
        </p:nvSpPr>
        <p:spPr>
          <a:xfrm>
            <a:off x="2083118" y="2137410"/>
            <a:ext cx="314325" cy="194310"/>
          </a:xfrm>
          <a:prstGeom prst="roundRect">
            <a:avLst>
              <a:gd name="adj" fmla="val 23529"/>
            </a:avLst>
          </a:prstGeom>
          <a:solidFill>
            <a:srgbClr val="FFC107"/>
          </a:solidFill>
          <a:ln/>
        </p:spPr>
      </p:sp>
      <p:sp>
        <p:nvSpPr>
          <p:cNvPr id="8" name="Shape 6"/>
          <p:cNvSpPr/>
          <p:nvPr/>
        </p:nvSpPr>
        <p:spPr>
          <a:xfrm>
            <a:off x="1972361" y="2409444"/>
            <a:ext cx="118872" cy="118872"/>
          </a:xfrm>
          <a:prstGeom prst="ellipse">
            <a:avLst/>
          </a:prstGeom>
          <a:solidFill>
            <a:srgbClr val="1B2430"/>
          </a:solidFill>
          <a:ln/>
        </p:spPr>
      </p:sp>
      <p:sp>
        <p:nvSpPr>
          <p:cNvPr id="9" name="Shape 7"/>
          <p:cNvSpPr/>
          <p:nvPr/>
        </p:nvSpPr>
        <p:spPr>
          <a:xfrm>
            <a:off x="2389327" y="2409444"/>
            <a:ext cx="118872" cy="118872"/>
          </a:xfrm>
          <a:prstGeom prst="ellipse">
            <a:avLst/>
          </a:prstGeom>
          <a:solidFill>
            <a:srgbClr val="1B2430"/>
          </a:solidFill>
          <a:ln/>
        </p:spPr>
      </p:sp>
      <p:sp>
        <p:nvSpPr>
          <p:cNvPr id="10" name="Text 8"/>
          <p:cNvSpPr/>
          <p:nvPr/>
        </p:nvSpPr>
        <p:spPr>
          <a:xfrm>
            <a:off x="685800" y="2926080"/>
            <a:ext cx="3108960" cy="411480"/>
          </a:xfrm>
          <a:prstGeom prst="rect">
            <a:avLst/>
          </a:prstGeom>
          <a:noFill/>
          <a:ln/>
        </p:spPr>
        <p:txBody>
          <a:bodyPr wrap="square" rtlCol="0" anchor="ctr"/>
          <a:lstStyle/>
          <a:p>
            <a:pPr marL="0" indent="0" algn="ctr">
              <a:buNone/>
            </a:pPr>
            <a:r>
              <a:rPr lang="en-US" sz="1600" b="1" dirty="0">
                <a:solidFill>
                  <a:srgbClr val="1B2430"/>
                </a:solidFill>
                <a:latin typeface="Calibri" pitchFamily="34" charset="0"/>
                <a:ea typeface="Calibri" pitchFamily="34" charset="-122"/>
                <a:cs typeface="Calibri" pitchFamily="34" charset="-120"/>
              </a:rPr>
              <a:t>Branch Staff</a:t>
            </a:r>
            <a:endParaRPr lang="en-US" sz="1600" dirty="0"/>
          </a:p>
        </p:txBody>
      </p:sp>
      <p:sp>
        <p:nvSpPr>
          <p:cNvPr id="11" name="Text 9"/>
          <p:cNvSpPr/>
          <p:nvPr/>
        </p:nvSpPr>
        <p:spPr>
          <a:xfrm>
            <a:off x="731520" y="3429000"/>
            <a:ext cx="3017520" cy="1371600"/>
          </a:xfrm>
          <a:prstGeom prst="rect">
            <a:avLst/>
          </a:prstGeom>
          <a:noFill/>
          <a:ln/>
        </p:spPr>
        <p:txBody>
          <a:bodyPr wrap="square" rtlCol="0" anchor="ctr"/>
          <a:lstStyle/>
          <a:p>
            <a:pPr marL="0" indent="0" algn="ctr">
              <a:lnSpc>
                <a:spcPct val="120000"/>
              </a:lnSpc>
              <a:buNone/>
            </a:pPr>
            <a:r>
              <a:rPr lang="en-US" sz="1200" dirty="0">
                <a:solidFill>
                  <a:srgbClr val="3C4450"/>
                </a:solidFill>
                <a:latin typeface="Calibri" pitchFamily="34" charset="0"/>
                <a:ea typeface="Calibri" pitchFamily="34" charset="-122"/>
                <a:cs typeface="Calibri" pitchFamily="34" charset="-120"/>
              </a:rPr>
              <a:t>Search availability, create reservations, issue &amp; receive vehicles, log inspections, bill customers</a:t>
            </a:r>
            <a:endParaRPr lang="en-US" sz="1200" dirty="0"/>
          </a:p>
        </p:txBody>
      </p:sp>
      <p:sp>
        <p:nvSpPr>
          <p:cNvPr id="12" name="Shape 10"/>
          <p:cNvSpPr/>
          <p:nvPr/>
        </p:nvSpPr>
        <p:spPr>
          <a:xfrm>
            <a:off x="4343400" y="1600200"/>
            <a:ext cx="3566160" cy="3291840"/>
          </a:xfrm>
          <a:prstGeom prst="roundRect">
            <a:avLst>
              <a:gd name="adj" fmla="val 1667"/>
            </a:avLst>
          </a:prstGeom>
          <a:solidFill>
            <a:srgbClr val="F4F6F8"/>
          </a:solidFill>
          <a:ln/>
        </p:spPr>
      </p:sp>
      <p:sp>
        <p:nvSpPr>
          <p:cNvPr id="13" name="Shape 11"/>
          <p:cNvSpPr/>
          <p:nvPr/>
        </p:nvSpPr>
        <p:spPr>
          <a:xfrm>
            <a:off x="5669280" y="1828800"/>
            <a:ext cx="914400" cy="914400"/>
          </a:xfrm>
          <a:prstGeom prst="ellipse">
            <a:avLst/>
          </a:prstGeom>
          <a:solidFill>
            <a:srgbClr val="1B2430"/>
          </a:solidFill>
          <a:ln/>
        </p:spPr>
      </p:sp>
      <p:sp>
        <p:nvSpPr>
          <p:cNvPr id="14" name="Shape 12"/>
          <p:cNvSpPr/>
          <p:nvPr/>
        </p:nvSpPr>
        <p:spPr>
          <a:xfrm>
            <a:off x="5840730" y="2253996"/>
            <a:ext cx="571500" cy="228600"/>
          </a:xfrm>
          <a:prstGeom prst="roundRect">
            <a:avLst>
              <a:gd name="adj" fmla="val 24000"/>
            </a:avLst>
          </a:prstGeom>
          <a:solidFill>
            <a:srgbClr val="FFC107"/>
          </a:solidFill>
          <a:ln/>
        </p:spPr>
      </p:sp>
      <p:sp>
        <p:nvSpPr>
          <p:cNvPr id="15" name="Shape 13"/>
          <p:cNvSpPr/>
          <p:nvPr/>
        </p:nvSpPr>
        <p:spPr>
          <a:xfrm>
            <a:off x="5969318" y="2137410"/>
            <a:ext cx="314325" cy="194310"/>
          </a:xfrm>
          <a:prstGeom prst="roundRect">
            <a:avLst>
              <a:gd name="adj" fmla="val 23529"/>
            </a:avLst>
          </a:prstGeom>
          <a:solidFill>
            <a:srgbClr val="FFC107"/>
          </a:solidFill>
          <a:ln/>
        </p:spPr>
      </p:sp>
      <p:sp>
        <p:nvSpPr>
          <p:cNvPr id="16" name="Shape 14"/>
          <p:cNvSpPr/>
          <p:nvPr/>
        </p:nvSpPr>
        <p:spPr>
          <a:xfrm>
            <a:off x="5858561" y="2409444"/>
            <a:ext cx="118872" cy="118872"/>
          </a:xfrm>
          <a:prstGeom prst="ellipse">
            <a:avLst/>
          </a:prstGeom>
          <a:solidFill>
            <a:srgbClr val="1B2430"/>
          </a:solidFill>
          <a:ln/>
        </p:spPr>
      </p:sp>
      <p:sp>
        <p:nvSpPr>
          <p:cNvPr id="17" name="Shape 15"/>
          <p:cNvSpPr/>
          <p:nvPr/>
        </p:nvSpPr>
        <p:spPr>
          <a:xfrm>
            <a:off x="6275527" y="2409444"/>
            <a:ext cx="118872" cy="118872"/>
          </a:xfrm>
          <a:prstGeom prst="ellipse">
            <a:avLst/>
          </a:prstGeom>
          <a:solidFill>
            <a:srgbClr val="1B2430"/>
          </a:solidFill>
          <a:ln/>
        </p:spPr>
      </p:sp>
      <p:sp>
        <p:nvSpPr>
          <p:cNvPr id="18" name="Text 16"/>
          <p:cNvSpPr/>
          <p:nvPr/>
        </p:nvSpPr>
        <p:spPr>
          <a:xfrm>
            <a:off x="4572000" y="2926080"/>
            <a:ext cx="3108960" cy="411480"/>
          </a:xfrm>
          <a:prstGeom prst="rect">
            <a:avLst/>
          </a:prstGeom>
          <a:noFill/>
          <a:ln/>
        </p:spPr>
        <p:txBody>
          <a:bodyPr wrap="square" rtlCol="0" anchor="ctr"/>
          <a:lstStyle/>
          <a:p>
            <a:pPr marL="0" indent="0" algn="ctr">
              <a:buNone/>
            </a:pPr>
            <a:r>
              <a:rPr lang="en-US" sz="1600" b="1" dirty="0">
                <a:solidFill>
                  <a:srgbClr val="1B2430"/>
                </a:solidFill>
                <a:latin typeface="Calibri" pitchFamily="34" charset="0"/>
                <a:ea typeface="Calibri" pitchFamily="34" charset="-122"/>
                <a:cs typeface="Calibri" pitchFamily="34" charset="-120"/>
              </a:rPr>
              <a:t>Branch Manager</a:t>
            </a:r>
            <a:endParaRPr lang="en-US" sz="1600" dirty="0"/>
          </a:p>
        </p:txBody>
      </p:sp>
      <p:sp>
        <p:nvSpPr>
          <p:cNvPr id="19" name="Text 17"/>
          <p:cNvSpPr/>
          <p:nvPr/>
        </p:nvSpPr>
        <p:spPr>
          <a:xfrm>
            <a:off x="4617720" y="3429000"/>
            <a:ext cx="3017520" cy="1371600"/>
          </a:xfrm>
          <a:prstGeom prst="rect">
            <a:avLst/>
          </a:prstGeom>
          <a:noFill/>
          <a:ln/>
        </p:spPr>
        <p:txBody>
          <a:bodyPr wrap="square" rtlCol="0" anchor="ctr"/>
          <a:lstStyle/>
          <a:p>
            <a:pPr marL="0" indent="0" algn="ctr">
              <a:lnSpc>
                <a:spcPct val="120000"/>
              </a:lnSpc>
              <a:buNone/>
            </a:pPr>
            <a:r>
              <a:rPr lang="en-US" sz="1200" dirty="0">
                <a:solidFill>
                  <a:srgbClr val="3C4450"/>
                </a:solidFill>
                <a:latin typeface="Calibri" pitchFamily="34" charset="0"/>
                <a:ea typeface="Calibri" pitchFamily="34" charset="-122"/>
                <a:cs typeface="Calibri" pitchFamily="34" charset="-120"/>
              </a:rPr>
              <a:t>Monitor fleet utilization, review revenue by branch, track overdue rentals &amp; damages</a:t>
            </a:r>
            <a:endParaRPr lang="en-US" sz="1200" dirty="0"/>
          </a:p>
        </p:txBody>
      </p:sp>
      <p:sp>
        <p:nvSpPr>
          <p:cNvPr id="20" name="Shape 18"/>
          <p:cNvSpPr/>
          <p:nvPr/>
        </p:nvSpPr>
        <p:spPr>
          <a:xfrm>
            <a:off x="8229600" y="1600200"/>
            <a:ext cx="3566160" cy="3291840"/>
          </a:xfrm>
          <a:prstGeom prst="roundRect">
            <a:avLst>
              <a:gd name="adj" fmla="val 1667"/>
            </a:avLst>
          </a:prstGeom>
          <a:solidFill>
            <a:srgbClr val="F4F6F8"/>
          </a:solidFill>
          <a:ln/>
        </p:spPr>
      </p:sp>
      <p:sp>
        <p:nvSpPr>
          <p:cNvPr id="21" name="Shape 19"/>
          <p:cNvSpPr/>
          <p:nvPr/>
        </p:nvSpPr>
        <p:spPr>
          <a:xfrm>
            <a:off x="9555480" y="1828800"/>
            <a:ext cx="914400" cy="914400"/>
          </a:xfrm>
          <a:prstGeom prst="ellipse">
            <a:avLst/>
          </a:prstGeom>
          <a:solidFill>
            <a:srgbClr val="1B2430"/>
          </a:solidFill>
          <a:ln/>
        </p:spPr>
      </p:sp>
      <p:sp>
        <p:nvSpPr>
          <p:cNvPr id="22" name="Shape 20"/>
          <p:cNvSpPr/>
          <p:nvPr/>
        </p:nvSpPr>
        <p:spPr>
          <a:xfrm>
            <a:off x="9726930" y="2253996"/>
            <a:ext cx="571500" cy="228600"/>
          </a:xfrm>
          <a:prstGeom prst="roundRect">
            <a:avLst>
              <a:gd name="adj" fmla="val 24000"/>
            </a:avLst>
          </a:prstGeom>
          <a:solidFill>
            <a:srgbClr val="FFC107"/>
          </a:solidFill>
          <a:ln/>
        </p:spPr>
      </p:sp>
      <p:sp>
        <p:nvSpPr>
          <p:cNvPr id="23" name="Shape 21"/>
          <p:cNvSpPr/>
          <p:nvPr/>
        </p:nvSpPr>
        <p:spPr>
          <a:xfrm>
            <a:off x="9855518" y="2137410"/>
            <a:ext cx="314325" cy="194310"/>
          </a:xfrm>
          <a:prstGeom prst="roundRect">
            <a:avLst>
              <a:gd name="adj" fmla="val 23529"/>
            </a:avLst>
          </a:prstGeom>
          <a:solidFill>
            <a:srgbClr val="FFC107"/>
          </a:solidFill>
          <a:ln/>
        </p:spPr>
      </p:sp>
      <p:sp>
        <p:nvSpPr>
          <p:cNvPr id="24" name="Shape 22"/>
          <p:cNvSpPr/>
          <p:nvPr/>
        </p:nvSpPr>
        <p:spPr>
          <a:xfrm>
            <a:off x="9744761" y="2409444"/>
            <a:ext cx="118872" cy="118872"/>
          </a:xfrm>
          <a:prstGeom prst="ellipse">
            <a:avLst/>
          </a:prstGeom>
          <a:solidFill>
            <a:srgbClr val="1B2430"/>
          </a:solidFill>
          <a:ln/>
        </p:spPr>
      </p:sp>
      <p:sp>
        <p:nvSpPr>
          <p:cNvPr id="25" name="Shape 23"/>
          <p:cNvSpPr/>
          <p:nvPr/>
        </p:nvSpPr>
        <p:spPr>
          <a:xfrm>
            <a:off x="10161727" y="2409444"/>
            <a:ext cx="118872" cy="118872"/>
          </a:xfrm>
          <a:prstGeom prst="ellipse">
            <a:avLst/>
          </a:prstGeom>
          <a:solidFill>
            <a:srgbClr val="1B2430"/>
          </a:solidFill>
          <a:ln/>
        </p:spPr>
      </p:sp>
      <p:sp>
        <p:nvSpPr>
          <p:cNvPr id="26" name="Text 24"/>
          <p:cNvSpPr/>
          <p:nvPr/>
        </p:nvSpPr>
        <p:spPr>
          <a:xfrm>
            <a:off x="8458200" y="2926080"/>
            <a:ext cx="3108960" cy="411480"/>
          </a:xfrm>
          <a:prstGeom prst="rect">
            <a:avLst/>
          </a:prstGeom>
          <a:noFill/>
          <a:ln/>
        </p:spPr>
        <p:txBody>
          <a:bodyPr wrap="square" rtlCol="0" anchor="ctr"/>
          <a:lstStyle/>
          <a:p>
            <a:pPr marL="0" indent="0" algn="ctr">
              <a:buNone/>
            </a:pPr>
            <a:r>
              <a:rPr lang="en-US" sz="1600" b="1" dirty="0">
                <a:solidFill>
                  <a:srgbClr val="1B2430"/>
                </a:solidFill>
                <a:latin typeface="Calibri" pitchFamily="34" charset="0"/>
                <a:ea typeface="Calibri" pitchFamily="34" charset="-122"/>
                <a:cs typeface="Calibri" pitchFamily="34" charset="-120"/>
              </a:rPr>
              <a:t>Customer</a:t>
            </a:r>
            <a:endParaRPr lang="en-US" sz="1600" dirty="0"/>
          </a:p>
        </p:txBody>
      </p:sp>
      <p:sp>
        <p:nvSpPr>
          <p:cNvPr id="27" name="Text 25"/>
          <p:cNvSpPr/>
          <p:nvPr/>
        </p:nvSpPr>
        <p:spPr>
          <a:xfrm>
            <a:off x="8503920" y="3429000"/>
            <a:ext cx="3017520" cy="1371600"/>
          </a:xfrm>
          <a:prstGeom prst="rect">
            <a:avLst/>
          </a:prstGeom>
          <a:noFill/>
          <a:ln/>
        </p:spPr>
        <p:txBody>
          <a:bodyPr wrap="square" rtlCol="0" anchor="ctr"/>
          <a:lstStyle/>
          <a:p>
            <a:pPr marL="0" indent="0" algn="ctr">
              <a:lnSpc>
                <a:spcPct val="120000"/>
              </a:lnSpc>
              <a:buNone/>
            </a:pPr>
            <a:r>
              <a:rPr lang="en-US" sz="1200" dirty="0">
                <a:solidFill>
                  <a:srgbClr val="3C4450"/>
                </a:solidFill>
                <a:latin typeface="Calibri" pitchFamily="34" charset="0"/>
                <a:ea typeface="Calibri" pitchFamily="34" charset="-122"/>
                <a:cs typeface="Calibri" pitchFamily="34" charset="-120"/>
              </a:rPr>
              <a:t>Check vehicle availability by category and branch, book in advance, view charges</a:t>
            </a:r>
            <a:endParaRPr lang="en-US" sz="1200" dirty="0"/>
          </a:p>
        </p:txBody>
      </p:sp>
      <p:sp>
        <p:nvSpPr>
          <p:cNvPr id="28" name="Text 26"/>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29" name="Text 27"/>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CONCEPTUAL DESIGN</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Entity-Relationship Model</a:t>
            </a:r>
            <a:endParaRPr lang="en-US" sz="2600" dirty="0"/>
          </a:p>
        </p:txBody>
      </p:sp>
      <p:sp>
        <p:nvSpPr>
          <p:cNvPr id="4" name="Shape 2"/>
          <p:cNvSpPr/>
          <p:nvPr/>
        </p:nvSpPr>
        <p:spPr>
          <a:xfrm>
            <a:off x="365760" y="1280160"/>
            <a:ext cx="1737360" cy="502920"/>
          </a:xfrm>
          <a:prstGeom prst="roundRect">
            <a:avLst>
              <a:gd name="adj" fmla="val 9091"/>
            </a:avLst>
          </a:prstGeom>
          <a:solidFill>
            <a:srgbClr val="FFFFFF"/>
          </a:solidFill>
          <a:ln w="15875">
            <a:solidFill>
              <a:srgbClr val="1B2430"/>
            </a:solidFill>
            <a:prstDash val="solid"/>
          </a:ln>
        </p:spPr>
      </p:sp>
      <p:sp>
        <p:nvSpPr>
          <p:cNvPr id="5" name="Text 3"/>
          <p:cNvSpPr/>
          <p:nvPr/>
        </p:nvSpPr>
        <p:spPr>
          <a:xfrm>
            <a:off x="365760" y="1280160"/>
            <a:ext cx="173736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Branch</a:t>
            </a:r>
            <a:endParaRPr lang="en-US" sz="1150" dirty="0"/>
          </a:p>
        </p:txBody>
      </p:sp>
      <p:sp>
        <p:nvSpPr>
          <p:cNvPr id="6" name="Shape 4"/>
          <p:cNvSpPr/>
          <p:nvPr/>
        </p:nvSpPr>
        <p:spPr>
          <a:xfrm>
            <a:off x="2468880" y="1280160"/>
            <a:ext cx="1920240" cy="502920"/>
          </a:xfrm>
          <a:prstGeom prst="roundRect">
            <a:avLst>
              <a:gd name="adj" fmla="val 9091"/>
            </a:avLst>
          </a:prstGeom>
          <a:solidFill>
            <a:srgbClr val="FFFFFF"/>
          </a:solidFill>
          <a:ln w="15875">
            <a:solidFill>
              <a:srgbClr val="1B2430"/>
            </a:solidFill>
            <a:prstDash val="solid"/>
          </a:ln>
        </p:spPr>
      </p:sp>
      <p:sp>
        <p:nvSpPr>
          <p:cNvPr id="7" name="Text 5"/>
          <p:cNvSpPr/>
          <p:nvPr/>
        </p:nvSpPr>
        <p:spPr>
          <a:xfrm>
            <a:off x="2468880" y="1280160"/>
            <a:ext cx="192024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Vehicle</a:t>
            </a:r>
            <a:endParaRPr lang="en-US" sz="1150" dirty="0"/>
          </a:p>
          <a:p>
            <a:pPr marL="0" indent="0" algn="ctr">
              <a:buNone/>
            </a:pPr>
            <a:r>
              <a:rPr lang="en-US" sz="1150" b="1" dirty="0">
                <a:solidFill>
                  <a:srgbClr val="1B2430"/>
                </a:solidFill>
                <a:latin typeface="Calibri" pitchFamily="34" charset="0"/>
                <a:ea typeface="Calibri" pitchFamily="34" charset="-122"/>
                <a:cs typeface="Calibri" pitchFamily="34" charset="-120"/>
              </a:rPr>
              <a:t>Category</a:t>
            </a:r>
            <a:endParaRPr lang="en-US" sz="1150" dirty="0"/>
          </a:p>
        </p:txBody>
      </p:sp>
      <p:sp>
        <p:nvSpPr>
          <p:cNvPr id="8" name="Shape 6"/>
          <p:cNvSpPr/>
          <p:nvPr/>
        </p:nvSpPr>
        <p:spPr>
          <a:xfrm>
            <a:off x="4754880" y="1280160"/>
            <a:ext cx="1737360" cy="502920"/>
          </a:xfrm>
          <a:prstGeom prst="roundRect">
            <a:avLst>
              <a:gd name="adj" fmla="val 9091"/>
            </a:avLst>
          </a:prstGeom>
          <a:solidFill>
            <a:srgbClr val="FFFFFF"/>
          </a:solidFill>
          <a:ln w="15875">
            <a:solidFill>
              <a:srgbClr val="1B2430"/>
            </a:solidFill>
            <a:prstDash val="solid"/>
          </a:ln>
        </p:spPr>
      </p:sp>
      <p:sp>
        <p:nvSpPr>
          <p:cNvPr id="9" name="Text 7"/>
          <p:cNvSpPr/>
          <p:nvPr/>
        </p:nvSpPr>
        <p:spPr>
          <a:xfrm>
            <a:off x="4754880" y="1280160"/>
            <a:ext cx="173736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Rate Plan</a:t>
            </a:r>
            <a:endParaRPr lang="en-US" sz="1150" dirty="0"/>
          </a:p>
        </p:txBody>
      </p:sp>
      <p:sp>
        <p:nvSpPr>
          <p:cNvPr id="10" name="Shape 8"/>
          <p:cNvSpPr/>
          <p:nvPr/>
        </p:nvSpPr>
        <p:spPr>
          <a:xfrm>
            <a:off x="6858000" y="1280160"/>
            <a:ext cx="1737360" cy="502920"/>
          </a:xfrm>
          <a:prstGeom prst="roundRect">
            <a:avLst>
              <a:gd name="adj" fmla="val 9091"/>
            </a:avLst>
          </a:prstGeom>
          <a:solidFill>
            <a:srgbClr val="F4F6F8"/>
          </a:solidFill>
          <a:ln w="15875">
            <a:solidFill>
              <a:srgbClr val="1B2430"/>
            </a:solidFill>
            <a:prstDash val="solid"/>
          </a:ln>
        </p:spPr>
      </p:sp>
      <p:sp>
        <p:nvSpPr>
          <p:cNvPr id="11" name="Text 9"/>
          <p:cNvSpPr/>
          <p:nvPr/>
        </p:nvSpPr>
        <p:spPr>
          <a:xfrm>
            <a:off x="6858000" y="1280160"/>
            <a:ext cx="173736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Customer</a:t>
            </a:r>
            <a:endParaRPr lang="en-US" sz="1150" dirty="0"/>
          </a:p>
        </p:txBody>
      </p:sp>
      <p:sp>
        <p:nvSpPr>
          <p:cNvPr id="12" name="Shape 10"/>
          <p:cNvSpPr/>
          <p:nvPr/>
        </p:nvSpPr>
        <p:spPr>
          <a:xfrm>
            <a:off x="1417320" y="2514600"/>
            <a:ext cx="1828800" cy="502920"/>
          </a:xfrm>
          <a:prstGeom prst="roundRect">
            <a:avLst>
              <a:gd name="adj" fmla="val 9091"/>
            </a:avLst>
          </a:prstGeom>
          <a:solidFill>
            <a:srgbClr val="FFFFFF"/>
          </a:solidFill>
          <a:ln w="15875">
            <a:solidFill>
              <a:srgbClr val="1B2430"/>
            </a:solidFill>
            <a:prstDash val="solid"/>
          </a:ln>
        </p:spPr>
      </p:sp>
      <p:sp>
        <p:nvSpPr>
          <p:cNvPr id="13" name="Text 11"/>
          <p:cNvSpPr/>
          <p:nvPr/>
        </p:nvSpPr>
        <p:spPr>
          <a:xfrm>
            <a:off x="1417320" y="2514600"/>
            <a:ext cx="182880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Vehicle</a:t>
            </a:r>
            <a:endParaRPr lang="en-US" sz="1150" dirty="0"/>
          </a:p>
        </p:txBody>
      </p:sp>
      <p:sp>
        <p:nvSpPr>
          <p:cNvPr id="14" name="Shape 12"/>
          <p:cNvSpPr/>
          <p:nvPr/>
        </p:nvSpPr>
        <p:spPr>
          <a:xfrm>
            <a:off x="5806440" y="2514600"/>
            <a:ext cx="1920240" cy="502920"/>
          </a:xfrm>
          <a:prstGeom prst="roundRect">
            <a:avLst>
              <a:gd name="adj" fmla="val 9091"/>
            </a:avLst>
          </a:prstGeom>
          <a:solidFill>
            <a:srgbClr val="F4F6F8"/>
          </a:solidFill>
          <a:ln w="15875">
            <a:solidFill>
              <a:srgbClr val="1B2430"/>
            </a:solidFill>
            <a:prstDash val="solid"/>
          </a:ln>
        </p:spPr>
      </p:sp>
      <p:sp>
        <p:nvSpPr>
          <p:cNvPr id="15" name="Text 13"/>
          <p:cNvSpPr/>
          <p:nvPr/>
        </p:nvSpPr>
        <p:spPr>
          <a:xfrm>
            <a:off x="5806440" y="2514600"/>
            <a:ext cx="192024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Reservation</a:t>
            </a:r>
            <a:endParaRPr lang="en-US" sz="1150" dirty="0"/>
          </a:p>
        </p:txBody>
      </p:sp>
      <p:sp>
        <p:nvSpPr>
          <p:cNvPr id="16" name="Shape 14"/>
          <p:cNvSpPr/>
          <p:nvPr/>
        </p:nvSpPr>
        <p:spPr>
          <a:xfrm>
            <a:off x="3657600" y="3749040"/>
            <a:ext cx="1920240" cy="502920"/>
          </a:xfrm>
          <a:prstGeom prst="roundRect">
            <a:avLst>
              <a:gd name="adj" fmla="val 9091"/>
            </a:avLst>
          </a:prstGeom>
          <a:solidFill>
            <a:srgbClr val="FFFFFF"/>
          </a:solidFill>
          <a:ln w="15875">
            <a:solidFill>
              <a:srgbClr val="FFC107"/>
            </a:solidFill>
            <a:prstDash val="solid"/>
          </a:ln>
        </p:spPr>
      </p:sp>
      <p:sp>
        <p:nvSpPr>
          <p:cNvPr id="17" name="Text 15"/>
          <p:cNvSpPr/>
          <p:nvPr/>
        </p:nvSpPr>
        <p:spPr>
          <a:xfrm>
            <a:off x="3657600" y="3749040"/>
            <a:ext cx="192024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Rental</a:t>
            </a:r>
            <a:endParaRPr lang="en-US" sz="1150" dirty="0"/>
          </a:p>
        </p:txBody>
      </p:sp>
      <p:sp>
        <p:nvSpPr>
          <p:cNvPr id="18" name="Shape 16"/>
          <p:cNvSpPr/>
          <p:nvPr/>
        </p:nvSpPr>
        <p:spPr>
          <a:xfrm>
            <a:off x="548640" y="4983480"/>
            <a:ext cx="1737360" cy="502920"/>
          </a:xfrm>
          <a:prstGeom prst="roundRect">
            <a:avLst>
              <a:gd name="adj" fmla="val 9091"/>
            </a:avLst>
          </a:prstGeom>
          <a:solidFill>
            <a:srgbClr val="FFFFFF"/>
          </a:solidFill>
          <a:ln w="15875">
            <a:solidFill>
              <a:srgbClr val="1B2430"/>
            </a:solidFill>
            <a:prstDash val="solid"/>
          </a:ln>
        </p:spPr>
      </p:sp>
      <p:sp>
        <p:nvSpPr>
          <p:cNvPr id="19" name="Text 17"/>
          <p:cNvSpPr/>
          <p:nvPr/>
        </p:nvSpPr>
        <p:spPr>
          <a:xfrm>
            <a:off x="548640" y="4983480"/>
            <a:ext cx="173736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Inspection</a:t>
            </a:r>
            <a:endParaRPr lang="en-US" sz="1150" dirty="0"/>
          </a:p>
        </p:txBody>
      </p:sp>
      <p:sp>
        <p:nvSpPr>
          <p:cNvPr id="20" name="Shape 18"/>
          <p:cNvSpPr/>
          <p:nvPr/>
        </p:nvSpPr>
        <p:spPr>
          <a:xfrm>
            <a:off x="2651760" y="4983480"/>
            <a:ext cx="1645920" cy="502920"/>
          </a:xfrm>
          <a:prstGeom prst="roundRect">
            <a:avLst>
              <a:gd name="adj" fmla="val 9091"/>
            </a:avLst>
          </a:prstGeom>
          <a:solidFill>
            <a:srgbClr val="FFFFFF"/>
          </a:solidFill>
          <a:ln w="15875">
            <a:solidFill>
              <a:srgbClr val="1B2430"/>
            </a:solidFill>
            <a:prstDash val="solid"/>
          </a:ln>
        </p:spPr>
      </p:sp>
      <p:sp>
        <p:nvSpPr>
          <p:cNvPr id="21" name="Text 19"/>
          <p:cNvSpPr/>
          <p:nvPr/>
        </p:nvSpPr>
        <p:spPr>
          <a:xfrm>
            <a:off x="2651760" y="4983480"/>
            <a:ext cx="164592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Damage</a:t>
            </a:r>
            <a:endParaRPr lang="en-US" sz="1150" dirty="0"/>
          </a:p>
        </p:txBody>
      </p:sp>
      <p:sp>
        <p:nvSpPr>
          <p:cNvPr id="22" name="Shape 20"/>
          <p:cNvSpPr/>
          <p:nvPr/>
        </p:nvSpPr>
        <p:spPr>
          <a:xfrm>
            <a:off x="4663440" y="4983480"/>
            <a:ext cx="1645920" cy="502920"/>
          </a:xfrm>
          <a:prstGeom prst="roundRect">
            <a:avLst>
              <a:gd name="adj" fmla="val 9091"/>
            </a:avLst>
          </a:prstGeom>
          <a:solidFill>
            <a:srgbClr val="F4F6F8"/>
          </a:solidFill>
          <a:ln w="15875">
            <a:solidFill>
              <a:srgbClr val="1B2430"/>
            </a:solidFill>
            <a:prstDash val="solid"/>
          </a:ln>
        </p:spPr>
      </p:sp>
      <p:sp>
        <p:nvSpPr>
          <p:cNvPr id="23" name="Text 21"/>
          <p:cNvSpPr/>
          <p:nvPr/>
        </p:nvSpPr>
        <p:spPr>
          <a:xfrm>
            <a:off x="4663440" y="4983480"/>
            <a:ext cx="164592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Invoice</a:t>
            </a:r>
            <a:endParaRPr lang="en-US" sz="1150" dirty="0"/>
          </a:p>
        </p:txBody>
      </p:sp>
      <p:sp>
        <p:nvSpPr>
          <p:cNvPr id="24" name="Shape 22"/>
          <p:cNvSpPr/>
          <p:nvPr/>
        </p:nvSpPr>
        <p:spPr>
          <a:xfrm>
            <a:off x="6675120" y="4983480"/>
            <a:ext cx="1737360" cy="502920"/>
          </a:xfrm>
          <a:prstGeom prst="roundRect">
            <a:avLst>
              <a:gd name="adj" fmla="val 9091"/>
            </a:avLst>
          </a:prstGeom>
          <a:solidFill>
            <a:srgbClr val="F4F6F8"/>
          </a:solidFill>
          <a:ln w="15875">
            <a:solidFill>
              <a:srgbClr val="1B2430"/>
            </a:solidFill>
            <a:prstDash val="solid"/>
          </a:ln>
        </p:spPr>
      </p:sp>
      <p:sp>
        <p:nvSpPr>
          <p:cNvPr id="25" name="Text 23"/>
          <p:cNvSpPr/>
          <p:nvPr/>
        </p:nvSpPr>
        <p:spPr>
          <a:xfrm>
            <a:off x="6675120" y="4983480"/>
            <a:ext cx="1737360" cy="502920"/>
          </a:xfrm>
          <a:prstGeom prst="rect">
            <a:avLst/>
          </a:prstGeom>
          <a:noFill/>
          <a:ln/>
        </p:spPr>
        <p:txBody>
          <a:bodyPr wrap="square" rtlCol="0" anchor="ctr"/>
          <a:lstStyle/>
          <a:p>
            <a:pPr marL="0" indent="0" algn="ctr">
              <a:buNone/>
            </a:pPr>
            <a:r>
              <a:rPr lang="en-US" sz="1150" b="1" dirty="0">
                <a:solidFill>
                  <a:srgbClr val="1B2430"/>
                </a:solidFill>
                <a:latin typeface="Calibri" pitchFamily="34" charset="0"/>
                <a:ea typeface="Calibri" pitchFamily="34" charset="-122"/>
                <a:cs typeface="Calibri" pitchFamily="34" charset="-120"/>
              </a:rPr>
              <a:t>Payment</a:t>
            </a:r>
            <a:endParaRPr lang="en-US" sz="1150" dirty="0"/>
          </a:p>
        </p:txBody>
      </p:sp>
      <p:sp>
        <p:nvSpPr>
          <p:cNvPr id="26" name="Shape 24"/>
          <p:cNvSpPr/>
          <p:nvPr/>
        </p:nvSpPr>
        <p:spPr>
          <a:xfrm>
            <a:off x="1234440" y="1783080"/>
            <a:ext cx="1097280" cy="731520"/>
          </a:xfrm>
          <a:prstGeom prst="line">
            <a:avLst/>
          </a:prstGeom>
          <a:noFill/>
          <a:ln w="19050">
            <a:solidFill>
              <a:srgbClr val="AAB2BD"/>
            </a:solidFill>
            <a:prstDash val="solid"/>
          </a:ln>
        </p:spPr>
      </p:sp>
      <p:sp>
        <p:nvSpPr>
          <p:cNvPr id="27" name="Shape 25"/>
          <p:cNvSpPr/>
          <p:nvPr/>
        </p:nvSpPr>
        <p:spPr>
          <a:xfrm>
            <a:off x="3429000" y="1783080"/>
            <a:ext cx="0" cy="731520"/>
          </a:xfrm>
          <a:prstGeom prst="line">
            <a:avLst/>
          </a:prstGeom>
          <a:noFill/>
          <a:ln w="19050">
            <a:solidFill>
              <a:srgbClr val="AAB2BD"/>
            </a:solidFill>
            <a:prstDash val="solid"/>
          </a:ln>
        </p:spPr>
      </p:sp>
      <p:sp>
        <p:nvSpPr>
          <p:cNvPr id="28" name="Shape 26"/>
          <p:cNvSpPr/>
          <p:nvPr/>
        </p:nvSpPr>
        <p:spPr>
          <a:xfrm>
            <a:off x="4389120" y="1531620"/>
            <a:ext cx="365760" cy="0"/>
          </a:xfrm>
          <a:prstGeom prst="line">
            <a:avLst/>
          </a:prstGeom>
          <a:noFill/>
          <a:ln w="19050">
            <a:solidFill>
              <a:srgbClr val="AAB2BD"/>
            </a:solidFill>
            <a:prstDash val="solid"/>
          </a:ln>
        </p:spPr>
      </p:sp>
      <p:sp>
        <p:nvSpPr>
          <p:cNvPr id="29" name="Shape 27"/>
          <p:cNvSpPr/>
          <p:nvPr/>
        </p:nvSpPr>
        <p:spPr>
          <a:xfrm>
            <a:off x="7726680" y="1783080"/>
            <a:ext cx="0" cy="731520"/>
          </a:xfrm>
          <a:prstGeom prst="line">
            <a:avLst/>
          </a:prstGeom>
          <a:noFill/>
          <a:ln w="19050">
            <a:solidFill>
              <a:srgbClr val="AAB2BD"/>
            </a:solidFill>
            <a:prstDash val="solid"/>
          </a:ln>
        </p:spPr>
      </p:sp>
      <p:sp>
        <p:nvSpPr>
          <p:cNvPr id="30" name="Shape 28"/>
          <p:cNvSpPr/>
          <p:nvPr/>
        </p:nvSpPr>
        <p:spPr>
          <a:xfrm>
            <a:off x="4389120" y="1531620"/>
            <a:ext cx="1417320" cy="1234440"/>
          </a:xfrm>
          <a:prstGeom prst="line">
            <a:avLst/>
          </a:prstGeom>
          <a:noFill/>
          <a:ln w="19050">
            <a:solidFill>
              <a:srgbClr val="AAB2BD"/>
            </a:solidFill>
            <a:prstDash val="solid"/>
          </a:ln>
        </p:spPr>
      </p:sp>
      <p:sp>
        <p:nvSpPr>
          <p:cNvPr id="31" name="Shape 29"/>
          <p:cNvSpPr/>
          <p:nvPr/>
        </p:nvSpPr>
        <p:spPr>
          <a:xfrm>
            <a:off x="2103120" y="1531620"/>
            <a:ext cx="3703320" cy="1234440"/>
          </a:xfrm>
          <a:prstGeom prst="line">
            <a:avLst/>
          </a:prstGeom>
          <a:noFill/>
          <a:ln w="19050">
            <a:solidFill>
              <a:srgbClr val="AAB2BD"/>
            </a:solidFill>
            <a:prstDash val="solid"/>
          </a:ln>
        </p:spPr>
      </p:sp>
      <p:sp>
        <p:nvSpPr>
          <p:cNvPr id="32" name="Shape 30"/>
          <p:cNvSpPr/>
          <p:nvPr/>
        </p:nvSpPr>
        <p:spPr>
          <a:xfrm>
            <a:off x="5806440" y="2766060"/>
            <a:ext cx="0" cy="1234440"/>
          </a:xfrm>
          <a:prstGeom prst="line">
            <a:avLst/>
          </a:prstGeom>
          <a:noFill/>
          <a:ln w="19050">
            <a:solidFill>
              <a:srgbClr val="AAB2BD"/>
            </a:solidFill>
            <a:prstDash val="solid"/>
          </a:ln>
        </p:spPr>
      </p:sp>
      <p:sp>
        <p:nvSpPr>
          <p:cNvPr id="33" name="Shape 31"/>
          <p:cNvSpPr/>
          <p:nvPr/>
        </p:nvSpPr>
        <p:spPr>
          <a:xfrm>
            <a:off x="3246120" y="2766060"/>
            <a:ext cx="411480" cy="1234440"/>
          </a:xfrm>
          <a:prstGeom prst="line">
            <a:avLst/>
          </a:prstGeom>
          <a:noFill/>
          <a:ln w="19050">
            <a:solidFill>
              <a:srgbClr val="AAB2BD"/>
            </a:solidFill>
            <a:prstDash val="solid"/>
          </a:ln>
        </p:spPr>
      </p:sp>
      <p:sp>
        <p:nvSpPr>
          <p:cNvPr id="34" name="Shape 32"/>
          <p:cNvSpPr/>
          <p:nvPr/>
        </p:nvSpPr>
        <p:spPr>
          <a:xfrm>
            <a:off x="6858000" y="1531620"/>
            <a:ext cx="0" cy="2468880"/>
          </a:xfrm>
          <a:prstGeom prst="line">
            <a:avLst/>
          </a:prstGeom>
          <a:noFill/>
          <a:ln w="19050">
            <a:solidFill>
              <a:srgbClr val="AAB2BD"/>
            </a:solidFill>
            <a:prstDash val="solid"/>
          </a:ln>
        </p:spPr>
      </p:sp>
      <p:sp>
        <p:nvSpPr>
          <p:cNvPr id="35" name="Shape 33"/>
          <p:cNvSpPr/>
          <p:nvPr/>
        </p:nvSpPr>
        <p:spPr>
          <a:xfrm>
            <a:off x="5623560" y="1783080"/>
            <a:ext cx="0" cy="1965960"/>
          </a:xfrm>
          <a:prstGeom prst="line">
            <a:avLst/>
          </a:prstGeom>
          <a:noFill/>
          <a:ln w="19050">
            <a:solidFill>
              <a:srgbClr val="AAB2BD"/>
            </a:solidFill>
            <a:prstDash val="solid"/>
          </a:ln>
        </p:spPr>
      </p:sp>
      <p:sp>
        <p:nvSpPr>
          <p:cNvPr id="36" name="Shape 34"/>
          <p:cNvSpPr/>
          <p:nvPr/>
        </p:nvSpPr>
        <p:spPr>
          <a:xfrm>
            <a:off x="3657600" y="4000500"/>
            <a:ext cx="0" cy="1234440"/>
          </a:xfrm>
          <a:prstGeom prst="line">
            <a:avLst/>
          </a:prstGeom>
          <a:noFill/>
          <a:ln w="19050">
            <a:solidFill>
              <a:srgbClr val="AAB2BD"/>
            </a:solidFill>
            <a:prstDash val="solid"/>
          </a:ln>
        </p:spPr>
      </p:sp>
      <p:sp>
        <p:nvSpPr>
          <p:cNvPr id="37" name="Shape 35"/>
          <p:cNvSpPr/>
          <p:nvPr/>
        </p:nvSpPr>
        <p:spPr>
          <a:xfrm>
            <a:off x="4617720" y="4251960"/>
            <a:ext cx="0" cy="731520"/>
          </a:xfrm>
          <a:prstGeom prst="line">
            <a:avLst/>
          </a:prstGeom>
          <a:noFill/>
          <a:ln w="19050">
            <a:solidFill>
              <a:srgbClr val="AAB2BD"/>
            </a:solidFill>
            <a:prstDash val="solid"/>
          </a:ln>
        </p:spPr>
      </p:sp>
      <p:sp>
        <p:nvSpPr>
          <p:cNvPr id="38" name="Shape 36"/>
          <p:cNvSpPr/>
          <p:nvPr/>
        </p:nvSpPr>
        <p:spPr>
          <a:xfrm>
            <a:off x="4617720" y="4251960"/>
            <a:ext cx="868680" cy="731520"/>
          </a:xfrm>
          <a:prstGeom prst="line">
            <a:avLst/>
          </a:prstGeom>
          <a:noFill/>
          <a:ln w="19050">
            <a:solidFill>
              <a:srgbClr val="AAB2BD"/>
            </a:solidFill>
            <a:prstDash val="solid"/>
          </a:ln>
        </p:spPr>
      </p:sp>
      <p:sp>
        <p:nvSpPr>
          <p:cNvPr id="39" name="Shape 37"/>
          <p:cNvSpPr/>
          <p:nvPr/>
        </p:nvSpPr>
        <p:spPr>
          <a:xfrm>
            <a:off x="6309360" y="5234940"/>
            <a:ext cx="365760" cy="0"/>
          </a:xfrm>
          <a:prstGeom prst="line">
            <a:avLst/>
          </a:prstGeom>
          <a:noFill/>
          <a:ln w="19050">
            <a:solidFill>
              <a:srgbClr val="AAB2BD"/>
            </a:solidFill>
            <a:prstDash val="solid"/>
          </a:ln>
        </p:spPr>
      </p:sp>
      <p:sp>
        <p:nvSpPr>
          <p:cNvPr id="40" name="Text 38"/>
          <p:cNvSpPr/>
          <p:nvPr/>
        </p:nvSpPr>
        <p:spPr>
          <a:xfrm>
            <a:off x="365760" y="5669280"/>
            <a:ext cx="11430000" cy="320040"/>
          </a:xfrm>
          <a:prstGeom prst="rect">
            <a:avLst/>
          </a:prstGeom>
          <a:noFill/>
          <a:ln/>
        </p:spPr>
        <p:txBody>
          <a:bodyPr wrap="square" rtlCol="0" anchor="ctr"/>
          <a:lstStyle/>
          <a:p>
            <a:pPr marL="0" indent="0">
              <a:buNone/>
            </a:pPr>
            <a:r>
              <a:rPr lang="en-US" sz="1000" i="1" dirty="0">
                <a:solidFill>
                  <a:srgbClr val="7A8290"/>
                </a:solidFill>
                <a:latin typeface="Calibri" pitchFamily="34" charset="0"/>
                <a:ea typeface="Calibri" pitchFamily="34" charset="-122"/>
                <a:cs typeface="Calibri" pitchFamily="34" charset="-120"/>
              </a:rPr>
              <a:t>11 entities  •  lines = PK→FK relationships (1:M unless the Rental box is involved, which is 1:0..1 from Reservation and 1:1 to Invoice)</a:t>
            </a:r>
            <a:endParaRPr lang="en-US" sz="1000" dirty="0"/>
          </a:p>
        </p:txBody>
      </p:sp>
      <p:sp>
        <p:nvSpPr>
          <p:cNvPr id="41" name="Text 39"/>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42" name="Text 40"/>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CONCEPTUAL DESIGN</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Entities at a Glance</a:t>
            </a:r>
            <a:endParaRPr lang="en-US" sz="2600" dirty="0"/>
          </a:p>
        </p:txBody>
      </p:sp>
      <p:sp>
        <p:nvSpPr>
          <p:cNvPr id="4" name="Text 2"/>
          <p:cNvSpPr/>
          <p:nvPr/>
        </p:nvSpPr>
        <p:spPr>
          <a:xfrm>
            <a:off x="594360" y="1463040"/>
            <a:ext cx="2926080" cy="402336"/>
          </a:xfrm>
          <a:prstGeom prst="rect">
            <a:avLst/>
          </a:prstGeom>
          <a:solidFill>
            <a:srgbClr val="1B2430"/>
          </a:solid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Entity</a:t>
            </a:r>
            <a:endParaRPr lang="en-US" sz="1250" dirty="0"/>
          </a:p>
        </p:txBody>
      </p:sp>
      <p:sp>
        <p:nvSpPr>
          <p:cNvPr id="5" name="Text 3"/>
          <p:cNvSpPr/>
          <p:nvPr/>
        </p:nvSpPr>
        <p:spPr>
          <a:xfrm>
            <a:off x="3703320" y="1463040"/>
            <a:ext cx="2194560" cy="402336"/>
          </a:xfrm>
          <a:prstGeom prst="rect">
            <a:avLst/>
          </a:prstGeom>
          <a:solidFill>
            <a:srgbClr val="1B2430"/>
          </a:solid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Primary Key</a:t>
            </a:r>
            <a:endParaRPr lang="en-US" sz="1250" dirty="0"/>
          </a:p>
        </p:txBody>
      </p:sp>
      <p:sp>
        <p:nvSpPr>
          <p:cNvPr id="6" name="Text 4"/>
          <p:cNvSpPr/>
          <p:nvPr/>
        </p:nvSpPr>
        <p:spPr>
          <a:xfrm>
            <a:off x="6080760" y="1463040"/>
            <a:ext cx="5394960" cy="402336"/>
          </a:xfrm>
          <a:prstGeom prst="rect">
            <a:avLst/>
          </a:prstGeom>
          <a:solidFill>
            <a:srgbClr val="1B2430"/>
          </a:solid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Role</a:t>
            </a:r>
            <a:endParaRPr lang="en-US" sz="1250" dirty="0"/>
          </a:p>
        </p:txBody>
      </p:sp>
      <p:sp>
        <p:nvSpPr>
          <p:cNvPr id="7" name="Text 5"/>
          <p:cNvSpPr/>
          <p:nvPr/>
        </p:nvSpPr>
        <p:spPr>
          <a:xfrm>
            <a:off x="594360" y="1865376"/>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Branch</a:t>
            </a:r>
            <a:endParaRPr lang="en-US" sz="1200" dirty="0"/>
          </a:p>
        </p:txBody>
      </p:sp>
      <p:sp>
        <p:nvSpPr>
          <p:cNvPr id="8" name="Text 6"/>
          <p:cNvSpPr/>
          <p:nvPr/>
        </p:nvSpPr>
        <p:spPr>
          <a:xfrm>
            <a:off x="3703320" y="1865376"/>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branch_id</a:t>
            </a:r>
            <a:endParaRPr lang="en-US" sz="1200" dirty="0"/>
          </a:p>
        </p:txBody>
      </p:sp>
      <p:sp>
        <p:nvSpPr>
          <p:cNvPr id="9" name="Text 7"/>
          <p:cNvSpPr/>
          <p:nvPr/>
        </p:nvSpPr>
        <p:spPr>
          <a:xfrm>
            <a:off x="6080760" y="1865376"/>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Rental office location</a:t>
            </a:r>
            <a:endParaRPr lang="en-US" sz="1200" dirty="0"/>
          </a:p>
        </p:txBody>
      </p:sp>
      <p:sp>
        <p:nvSpPr>
          <p:cNvPr id="10" name="Shape 8"/>
          <p:cNvSpPr/>
          <p:nvPr/>
        </p:nvSpPr>
        <p:spPr>
          <a:xfrm>
            <a:off x="457200" y="2267712"/>
            <a:ext cx="11064240" cy="402336"/>
          </a:xfrm>
          <a:prstGeom prst="rect">
            <a:avLst/>
          </a:prstGeom>
          <a:solidFill>
            <a:srgbClr val="F4F6F8"/>
          </a:solidFill>
          <a:ln/>
        </p:spPr>
      </p:sp>
      <p:sp>
        <p:nvSpPr>
          <p:cNvPr id="11" name="Text 9"/>
          <p:cNvSpPr/>
          <p:nvPr/>
        </p:nvSpPr>
        <p:spPr>
          <a:xfrm>
            <a:off x="594360" y="2267712"/>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VehicleCategory</a:t>
            </a:r>
            <a:endParaRPr lang="en-US" sz="1200" dirty="0"/>
          </a:p>
        </p:txBody>
      </p:sp>
      <p:sp>
        <p:nvSpPr>
          <p:cNvPr id="12" name="Text 10"/>
          <p:cNvSpPr/>
          <p:nvPr/>
        </p:nvSpPr>
        <p:spPr>
          <a:xfrm>
            <a:off x="3703320" y="2267712"/>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category_id</a:t>
            </a:r>
            <a:endParaRPr lang="en-US" sz="1200" dirty="0"/>
          </a:p>
        </p:txBody>
      </p:sp>
      <p:sp>
        <p:nvSpPr>
          <p:cNvPr id="13" name="Text 11"/>
          <p:cNvSpPr/>
          <p:nvPr/>
        </p:nvSpPr>
        <p:spPr>
          <a:xfrm>
            <a:off x="6080760" y="2267712"/>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Economy / Sedan / SUV / Luxury</a:t>
            </a:r>
            <a:endParaRPr lang="en-US" sz="1200" dirty="0"/>
          </a:p>
        </p:txBody>
      </p:sp>
      <p:sp>
        <p:nvSpPr>
          <p:cNvPr id="14" name="Text 12"/>
          <p:cNvSpPr/>
          <p:nvPr/>
        </p:nvSpPr>
        <p:spPr>
          <a:xfrm>
            <a:off x="594360" y="2670048"/>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Vehicle</a:t>
            </a:r>
            <a:endParaRPr lang="en-US" sz="1200" dirty="0"/>
          </a:p>
        </p:txBody>
      </p:sp>
      <p:sp>
        <p:nvSpPr>
          <p:cNvPr id="15" name="Text 13"/>
          <p:cNvSpPr/>
          <p:nvPr/>
        </p:nvSpPr>
        <p:spPr>
          <a:xfrm>
            <a:off x="3703320" y="2670048"/>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vehicle_id</a:t>
            </a:r>
            <a:endParaRPr lang="en-US" sz="1200" dirty="0"/>
          </a:p>
        </p:txBody>
      </p:sp>
      <p:sp>
        <p:nvSpPr>
          <p:cNvPr id="16" name="Text 14"/>
          <p:cNvSpPr/>
          <p:nvPr/>
        </p:nvSpPr>
        <p:spPr>
          <a:xfrm>
            <a:off x="6080760" y="2670048"/>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Individual fleet vehicle</a:t>
            </a:r>
            <a:endParaRPr lang="en-US" sz="1200" dirty="0"/>
          </a:p>
        </p:txBody>
      </p:sp>
      <p:sp>
        <p:nvSpPr>
          <p:cNvPr id="17" name="Shape 15"/>
          <p:cNvSpPr/>
          <p:nvPr/>
        </p:nvSpPr>
        <p:spPr>
          <a:xfrm>
            <a:off x="457200" y="3072384"/>
            <a:ext cx="11064240" cy="402336"/>
          </a:xfrm>
          <a:prstGeom prst="rect">
            <a:avLst/>
          </a:prstGeom>
          <a:solidFill>
            <a:srgbClr val="F4F6F8"/>
          </a:solidFill>
          <a:ln/>
        </p:spPr>
      </p:sp>
      <p:sp>
        <p:nvSpPr>
          <p:cNvPr id="18" name="Text 16"/>
          <p:cNvSpPr/>
          <p:nvPr/>
        </p:nvSpPr>
        <p:spPr>
          <a:xfrm>
            <a:off x="594360" y="3072384"/>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Customer</a:t>
            </a:r>
            <a:endParaRPr lang="en-US" sz="1200" dirty="0"/>
          </a:p>
        </p:txBody>
      </p:sp>
      <p:sp>
        <p:nvSpPr>
          <p:cNvPr id="19" name="Text 17"/>
          <p:cNvSpPr/>
          <p:nvPr/>
        </p:nvSpPr>
        <p:spPr>
          <a:xfrm>
            <a:off x="3703320" y="3072384"/>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customer_id</a:t>
            </a:r>
            <a:endParaRPr lang="en-US" sz="1200" dirty="0"/>
          </a:p>
        </p:txBody>
      </p:sp>
      <p:sp>
        <p:nvSpPr>
          <p:cNvPr id="20" name="Text 18"/>
          <p:cNvSpPr/>
          <p:nvPr/>
        </p:nvSpPr>
        <p:spPr>
          <a:xfrm>
            <a:off x="6080760" y="3072384"/>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Renter with licence details</a:t>
            </a:r>
            <a:endParaRPr lang="en-US" sz="1200" dirty="0"/>
          </a:p>
        </p:txBody>
      </p:sp>
      <p:sp>
        <p:nvSpPr>
          <p:cNvPr id="21" name="Text 19"/>
          <p:cNvSpPr/>
          <p:nvPr/>
        </p:nvSpPr>
        <p:spPr>
          <a:xfrm>
            <a:off x="594360" y="3474720"/>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RatePlan</a:t>
            </a:r>
            <a:endParaRPr lang="en-US" sz="1200" dirty="0"/>
          </a:p>
        </p:txBody>
      </p:sp>
      <p:sp>
        <p:nvSpPr>
          <p:cNvPr id="22" name="Text 20"/>
          <p:cNvSpPr/>
          <p:nvPr/>
        </p:nvSpPr>
        <p:spPr>
          <a:xfrm>
            <a:off x="3703320" y="3474720"/>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rate_plan_id</a:t>
            </a:r>
            <a:endParaRPr lang="en-US" sz="1200" dirty="0"/>
          </a:p>
        </p:txBody>
      </p:sp>
      <p:sp>
        <p:nvSpPr>
          <p:cNvPr id="23" name="Text 21"/>
          <p:cNvSpPr/>
          <p:nvPr/>
        </p:nvSpPr>
        <p:spPr>
          <a:xfrm>
            <a:off x="6080760" y="3474720"/>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Pricing per category</a:t>
            </a:r>
            <a:endParaRPr lang="en-US" sz="1200" dirty="0"/>
          </a:p>
        </p:txBody>
      </p:sp>
      <p:sp>
        <p:nvSpPr>
          <p:cNvPr id="24" name="Shape 22"/>
          <p:cNvSpPr/>
          <p:nvPr/>
        </p:nvSpPr>
        <p:spPr>
          <a:xfrm>
            <a:off x="457200" y="3877056"/>
            <a:ext cx="11064240" cy="402336"/>
          </a:xfrm>
          <a:prstGeom prst="rect">
            <a:avLst/>
          </a:prstGeom>
          <a:solidFill>
            <a:srgbClr val="F4F6F8"/>
          </a:solidFill>
          <a:ln/>
        </p:spPr>
      </p:sp>
      <p:sp>
        <p:nvSpPr>
          <p:cNvPr id="25" name="Text 23"/>
          <p:cNvSpPr/>
          <p:nvPr/>
        </p:nvSpPr>
        <p:spPr>
          <a:xfrm>
            <a:off x="594360" y="3877056"/>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Reservation</a:t>
            </a:r>
            <a:endParaRPr lang="en-US" sz="1200" dirty="0"/>
          </a:p>
        </p:txBody>
      </p:sp>
      <p:sp>
        <p:nvSpPr>
          <p:cNvPr id="26" name="Text 24"/>
          <p:cNvSpPr/>
          <p:nvPr/>
        </p:nvSpPr>
        <p:spPr>
          <a:xfrm>
            <a:off x="3703320" y="3877056"/>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reservation_id</a:t>
            </a:r>
            <a:endParaRPr lang="en-US" sz="1200" dirty="0"/>
          </a:p>
        </p:txBody>
      </p:sp>
      <p:sp>
        <p:nvSpPr>
          <p:cNvPr id="27" name="Text 25"/>
          <p:cNvSpPr/>
          <p:nvPr/>
        </p:nvSpPr>
        <p:spPr>
          <a:xfrm>
            <a:off x="6080760" y="3877056"/>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Advance booking, pre-vehicle-assignment</a:t>
            </a:r>
            <a:endParaRPr lang="en-US" sz="1200" dirty="0"/>
          </a:p>
        </p:txBody>
      </p:sp>
      <p:sp>
        <p:nvSpPr>
          <p:cNvPr id="28" name="Text 26"/>
          <p:cNvSpPr/>
          <p:nvPr/>
        </p:nvSpPr>
        <p:spPr>
          <a:xfrm>
            <a:off x="594360" y="4279392"/>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Rental</a:t>
            </a:r>
            <a:endParaRPr lang="en-US" sz="1200" dirty="0"/>
          </a:p>
        </p:txBody>
      </p:sp>
      <p:sp>
        <p:nvSpPr>
          <p:cNvPr id="29" name="Text 27"/>
          <p:cNvSpPr/>
          <p:nvPr/>
        </p:nvSpPr>
        <p:spPr>
          <a:xfrm>
            <a:off x="3703320" y="4279392"/>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rental_id</a:t>
            </a:r>
            <a:endParaRPr lang="en-US" sz="1200" dirty="0"/>
          </a:p>
        </p:txBody>
      </p:sp>
      <p:sp>
        <p:nvSpPr>
          <p:cNvPr id="30" name="Text 28"/>
          <p:cNvSpPr/>
          <p:nvPr/>
        </p:nvSpPr>
        <p:spPr>
          <a:xfrm>
            <a:off x="6080760" y="4279392"/>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Actual transaction — vehicle issued</a:t>
            </a:r>
            <a:endParaRPr lang="en-US" sz="1200" dirty="0"/>
          </a:p>
        </p:txBody>
      </p:sp>
      <p:sp>
        <p:nvSpPr>
          <p:cNvPr id="31" name="Shape 29"/>
          <p:cNvSpPr/>
          <p:nvPr/>
        </p:nvSpPr>
        <p:spPr>
          <a:xfrm>
            <a:off x="457200" y="4681728"/>
            <a:ext cx="11064240" cy="402336"/>
          </a:xfrm>
          <a:prstGeom prst="rect">
            <a:avLst/>
          </a:prstGeom>
          <a:solidFill>
            <a:srgbClr val="F4F6F8"/>
          </a:solidFill>
          <a:ln/>
        </p:spPr>
      </p:sp>
      <p:sp>
        <p:nvSpPr>
          <p:cNvPr id="32" name="Text 30"/>
          <p:cNvSpPr/>
          <p:nvPr/>
        </p:nvSpPr>
        <p:spPr>
          <a:xfrm>
            <a:off x="594360" y="4681728"/>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Inspection</a:t>
            </a:r>
            <a:endParaRPr lang="en-US" sz="1200" dirty="0"/>
          </a:p>
        </p:txBody>
      </p:sp>
      <p:sp>
        <p:nvSpPr>
          <p:cNvPr id="33" name="Text 31"/>
          <p:cNvSpPr/>
          <p:nvPr/>
        </p:nvSpPr>
        <p:spPr>
          <a:xfrm>
            <a:off x="3703320" y="4681728"/>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inspection_id</a:t>
            </a:r>
            <a:endParaRPr lang="en-US" sz="1200" dirty="0"/>
          </a:p>
        </p:txBody>
      </p:sp>
      <p:sp>
        <p:nvSpPr>
          <p:cNvPr id="34" name="Text 32"/>
          <p:cNvSpPr/>
          <p:nvPr/>
        </p:nvSpPr>
        <p:spPr>
          <a:xfrm>
            <a:off x="6080760" y="4681728"/>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Condition at pickup and at return</a:t>
            </a:r>
            <a:endParaRPr lang="en-US" sz="1200" dirty="0"/>
          </a:p>
        </p:txBody>
      </p:sp>
      <p:sp>
        <p:nvSpPr>
          <p:cNvPr id="35" name="Text 33"/>
          <p:cNvSpPr/>
          <p:nvPr/>
        </p:nvSpPr>
        <p:spPr>
          <a:xfrm>
            <a:off x="594360" y="5084064"/>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Damage</a:t>
            </a:r>
            <a:endParaRPr lang="en-US" sz="1200" dirty="0"/>
          </a:p>
        </p:txBody>
      </p:sp>
      <p:sp>
        <p:nvSpPr>
          <p:cNvPr id="36" name="Text 34"/>
          <p:cNvSpPr/>
          <p:nvPr/>
        </p:nvSpPr>
        <p:spPr>
          <a:xfrm>
            <a:off x="3703320" y="5084064"/>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damage_id</a:t>
            </a:r>
            <a:endParaRPr lang="en-US" sz="1200" dirty="0"/>
          </a:p>
        </p:txBody>
      </p:sp>
      <p:sp>
        <p:nvSpPr>
          <p:cNvPr id="37" name="Text 35"/>
          <p:cNvSpPr/>
          <p:nvPr/>
        </p:nvSpPr>
        <p:spPr>
          <a:xfrm>
            <a:off x="6080760" y="5084064"/>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Damage recorded during a rental</a:t>
            </a:r>
            <a:endParaRPr lang="en-US" sz="1200" dirty="0"/>
          </a:p>
        </p:txBody>
      </p:sp>
      <p:sp>
        <p:nvSpPr>
          <p:cNvPr id="38" name="Shape 36"/>
          <p:cNvSpPr/>
          <p:nvPr/>
        </p:nvSpPr>
        <p:spPr>
          <a:xfrm>
            <a:off x="457200" y="5486400"/>
            <a:ext cx="11064240" cy="402336"/>
          </a:xfrm>
          <a:prstGeom prst="rect">
            <a:avLst/>
          </a:prstGeom>
          <a:solidFill>
            <a:srgbClr val="F4F6F8"/>
          </a:solidFill>
          <a:ln/>
        </p:spPr>
      </p:sp>
      <p:sp>
        <p:nvSpPr>
          <p:cNvPr id="39" name="Text 37"/>
          <p:cNvSpPr/>
          <p:nvPr/>
        </p:nvSpPr>
        <p:spPr>
          <a:xfrm>
            <a:off x="594360" y="5486400"/>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Invoice</a:t>
            </a:r>
            <a:endParaRPr lang="en-US" sz="1200" dirty="0"/>
          </a:p>
        </p:txBody>
      </p:sp>
      <p:sp>
        <p:nvSpPr>
          <p:cNvPr id="40" name="Text 38"/>
          <p:cNvSpPr/>
          <p:nvPr/>
        </p:nvSpPr>
        <p:spPr>
          <a:xfrm>
            <a:off x="3703320" y="5486400"/>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invoice_id</a:t>
            </a:r>
            <a:endParaRPr lang="en-US" sz="1200" dirty="0"/>
          </a:p>
        </p:txBody>
      </p:sp>
      <p:sp>
        <p:nvSpPr>
          <p:cNvPr id="41" name="Text 39"/>
          <p:cNvSpPr/>
          <p:nvPr/>
        </p:nvSpPr>
        <p:spPr>
          <a:xfrm>
            <a:off x="6080760" y="5486400"/>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Final bill for one rental</a:t>
            </a:r>
            <a:endParaRPr lang="en-US" sz="1200" dirty="0"/>
          </a:p>
        </p:txBody>
      </p:sp>
      <p:sp>
        <p:nvSpPr>
          <p:cNvPr id="42" name="Text 40"/>
          <p:cNvSpPr/>
          <p:nvPr/>
        </p:nvSpPr>
        <p:spPr>
          <a:xfrm>
            <a:off x="594360" y="5888736"/>
            <a:ext cx="292608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Payment</a:t>
            </a:r>
            <a:endParaRPr lang="en-US" sz="1200" dirty="0"/>
          </a:p>
        </p:txBody>
      </p:sp>
      <p:sp>
        <p:nvSpPr>
          <p:cNvPr id="43" name="Text 41"/>
          <p:cNvSpPr/>
          <p:nvPr/>
        </p:nvSpPr>
        <p:spPr>
          <a:xfrm>
            <a:off x="3703320" y="5888736"/>
            <a:ext cx="21945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payment_id</a:t>
            </a:r>
            <a:endParaRPr lang="en-US" sz="1200" dirty="0"/>
          </a:p>
        </p:txBody>
      </p:sp>
      <p:sp>
        <p:nvSpPr>
          <p:cNvPr id="44" name="Text 42"/>
          <p:cNvSpPr/>
          <p:nvPr/>
        </p:nvSpPr>
        <p:spPr>
          <a:xfrm>
            <a:off x="6080760" y="5888736"/>
            <a:ext cx="5394960" cy="402336"/>
          </a:xfrm>
          <a:prstGeom prst="rect">
            <a:avLst/>
          </a:prstGeom>
          <a:noFill/>
          <a:ln/>
        </p:spPr>
        <p:txBody>
          <a:bodyPr wrap="square" rtlCol="0" anchor="ctr"/>
          <a:lstStyle/>
          <a:p>
            <a:pPr marL="0" indent="0">
              <a:buNone/>
            </a:pPr>
            <a:r>
              <a:rPr lang="en-US" sz="1200" dirty="0">
                <a:solidFill>
                  <a:srgbClr val="1B2430"/>
                </a:solidFill>
                <a:latin typeface="Calibri" pitchFamily="34" charset="0"/>
                <a:ea typeface="Calibri" pitchFamily="34" charset="-122"/>
                <a:cs typeface="Calibri" pitchFamily="34" charset="-120"/>
              </a:rPr>
              <a:t>Payment(s) against an invoice</a:t>
            </a:r>
            <a:endParaRPr lang="en-US" sz="1200" dirty="0"/>
          </a:p>
        </p:txBody>
      </p:sp>
      <p:sp>
        <p:nvSpPr>
          <p:cNvPr id="45" name="Text 43"/>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46" name="Text 44"/>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DATA INTEGRITY</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Business Rules We Must Enforce</a:t>
            </a:r>
            <a:endParaRPr lang="en-US" sz="2600" dirty="0"/>
          </a:p>
        </p:txBody>
      </p:sp>
      <p:sp>
        <p:nvSpPr>
          <p:cNvPr id="4" name="Shape 2"/>
          <p:cNvSpPr/>
          <p:nvPr/>
        </p:nvSpPr>
        <p:spPr>
          <a:xfrm>
            <a:off x="457200" y="1508760"/>
            <a:ext cx="11247120" cy="896112"/>
          </a:xfrm>
          <a:prstGeom prst="roundRect">
            <a:avLst>
              <a:gd name="adj" fmla="val 6122"/>
            </a:avLst>
          </a:prstGeom>
          <a:solidFill>
            <a:srgbClr val="F4F6F8"/>
          </a:solidFill>
          <a:ln/>
        </p:spPr>
      </p:sp>
      <p:sp>
        <p:nvSpPr>
          <p:cNvPr id="5" name="Text 3"/>
          <p:cNvSpPr/>
          <p:nvPr/>
        </p:nvSpPr>
        <p:spPr>
          <a:xfrm>
            <a:off x="685800" y="1581912"/>
            <a:ext cx="3017520" cy="749808"/>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No overlapping rentals</a:t>
            </a:r>
            <a:endParaRPr lang="en-US" sz="1300" dirty="0"/>
          </a:p>
        </p:txBody>
      </p:sp>
      <p:sp>
        <p:nvSpPr>
          <p:cNvPr id="6" name="Text 4"/>
          <p:cNvSpPr/>
          <p:nvPr/>
        </p:nvSpPr>
        <p:spPr>
          <a:xfrm>
            <a:off x="3794760" y="1581912"/>
            <a:ext cx="5120640" cy="749808"/>
          </a:xfrm>
          <a:prstGeom prst="rect">
            <a:avLst/>
          </a:prstGeom>
          <a:noFill/>
          <a:ln/>
        </p:spPr>
        <p:txBody>
          <a:bodyPr wrap="square" rtlCol="0" anchor="ctr"/>
          <a:lstStyle/>
          <a:p>
            <a:pPr marL="0" indent="0">
              <a:buNone/>
            </a:pPr>
            <a:r>
              <a:rPr lang="en-US" sz="1150" dirty="0">
                <a:solidFill>
                  <a:srgbClr val="3C4450"/>
                </a:solidFill>
                <a:latin typeface="Calibri" pitchFamily="34" charset="0"/>
                <a:ea typeface="Calibri" pitchFamily="34" charset="-122"/>
                <a:cs typeface="Calibri" pitchFamily="34" charset="-120"/>
              </a:rPr>
              <a:t>Same vehicle can't be rented to two customers on overlapping dates</a:t>
            </a:r>
            <a:endParaRPr lang="en-US" sz="1150" dirty="0"/>
          </a:p>
        </p:txBody>
      </p:sp>
      <p:sp>
        <p:nvSpPr>
          <p:cNvPr id="7" name="Shape 5"/>
          <p:cNvSpPr/>
          <p:nvPr/>
        </p:nvSpPr>
        <p:spPr>
          <a:xfrm>
            <a:off x="9098280" y="1664208"/>
            <a:ext cx="2468880" cy="585216"/>
          </a:xfrm>
          <a:prstGeom prst="roundRect">
            <a:avLst>
              <a:gd name="adj" fmla="val 9375"/>
            </a:avLst>
          </a:prstGeom>
          <a:solidFill>
            <a:srgbClr val="1B2430"/>
          </a:solidFill>
          <a:ln/>
        </p:spPr>
      </p:sp>
      <p:sp>
        <p:nvSpPr>
          <p:cNvPr id="8" name="Text 6"/>
          <p:cNvSpPr/>
          <p:nvPr/>
        </p:nvSpPr>
        <p:spPr>
          <a:xfrm>
            <a:off x="9189720" y="1664208"/>
            <a:ext cx="2286000" cy="585216"/>
          </a:xfrm>
          <a:prstGeom prst="rect">
            <a:avLst/>
          </a:prstGeom>
          <a:noFill/>
          <a:ln/>
        </p:spPr>
        <p:txBody>
          <a:bodyPr wrap="square" rtlCol="0" anchor="ctr"/>
          <a:lstStyle/>
          <a:p>
            <a:pPr marL="0" indent="0" algn="ctr">
              <a:buNone/>
            </a:pPr>
            <a:r>
              <a:rPr lang="en-US" sz="1000" b="1" dirty="0">
                <a:solidFill>
                  <a:srgbClr val="FFC107"/>
                </a:solidFill>
                <a:latin typeface="Calibri" pitchFamily="34" charset="0"/>
                <a:ea typeface="Calibri" pitchFamily="34" charset="-122"/>
                <a:cs typeface="Calibri" pitchFamily="34" charset="-120"/>
              </a:rPr>
              <a:t>Trigger (cross-row check on INSERT)</a:t>
            </a:r>
            <a:endParaRPr lang="en-US" sz="1000" dirty="0"/>
          </a:p>
        </p:txBody>
      </p:sp>
      <p:sp>
        <p:nvSpPr>
          <p:cNvPr id="9" name="Shape 7"/>
          <p:cNvSpPr/>
          <p:nvPr/>
        </p:nvSpPr>
        <p:spPr>
          <a:xfrm>
            <a:off x="457200" y="2514600"/>
            <a:ext cx="11247120" cy="896112"/>
          </a:xfrm>
          <a:prstGeom prst="roundRect">
            <a:avLst>
              <a:gd name="adj" fmla="val 6122"/>
            </a:avLst>
          </a:prstGeom>
          <a:solidFill>
            <a:srgbClr val="F4F6F8"/>
          </a:solidFill>
          <a:ln/>
        </p:spPr>
      </p:sp>
      <p:sp>
        <p:nvSpPr>
          <p:cNvPr id="10" name="Text 8"/>
          <p:cNvSpPr/>
          <p:nvPr/>
        </p:nvSpPr>
        <p:spPr>
          <a:xfrm>
            <a:off x="685800" y="2587752"/>
            <a:ext cx="3017520" cy="749808"/>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Valid driving licence</a:t>
            </a:r>
            <a:endParaRPr lang="en-US" sz="1300" dirty="0"/>
          </a:p>
        </p:txBody>
      </p:sp>
      <p:sp>
        <p:nvSpPr>
          <p:cNvPr id="11" name="Text 9"/>
          <p:cNvSpPr/>
          <p:nvPr/>
        </p:nvSpPr>
        <p:spPr>
          <a:xfrm>
            <a:off x="3794760" y="2587752"/>
            <a:ext cx="5120640" cy="749808"/>
          </a:xfrm>
          <a:prstGeom prst="rect">
            <a:avLst/>
          </a:prstGeom>
          <a:noFill/>
          <a:ln/>
        </p:spPr>
        <p:txBody>
          <a:bodyPr wrap="square" rtlCol="0" anchor="ctr"/>
          <a:lstStyle/>
          <a:p>
            <a:pPr marL="0" indent="0">
              <a:buNone/>
            </a:pPr>
            <a:r>
              <a:rPr lang="en-US" sz="1150" dirty="0">
                <a:solidFill>
                  <a:srgbClr val="3C4450"/>
                </a:solidFill>
                <a:latin typeface="Calibri" pitchFamily="34" charset="0"/>
                <a:ea typeface="Calibri" pitchFamily="34" charset="-122"/>
                <a:cs typeface="Calibri" pitchFamily="34" charset="-120"/>
              </a:rPr>
              <a:t>Customer's licence must not be expired at pickup</a:t>
            </a:r>
            <a:endParaRPr lang="en-US" sz="1150" dirty="0"/>
          </a:p>
        </p:txBody>
      </p:sp>
      <p:sp>
        <p:nvSpPr>
          <p:cNvPr id="12" name="Shape 10"/>
          <p:cNvSpPr/>
          <p:nvPr/>
        </p:nvSpPr>
        <p:spPr>
          <a:xfrm>
            <a:off x="9098280" y="2670048"/>
            <a:ext cx="2468880" cy="585216"/>
          </a:xfrm>
          <a:prstGeom prst="roundRect">
            <a:avLst>
              <a:gd name="adj" fmla="val 9375"/>
            </a:avLst>
          </a:prstGeom>
          <a:solidFill>
            <a:srgbClr val="1B2430"/>
          </a:solidFill>
          <a:ln/>
        </p:spPr>
      </p:sp>
      <p:sp>
        <p:nvSpPr>
          <p:cNvPr id="13" name="Text 11"/>
          <p:cNvSpPr/>
          <p:nvPr/>
        </p:nvSpPr>
        <p:spPr>
          <a:xfrm>
            <a:off x="9189720" y="2670048"/>
            <a:ext cx="2286000" cy="585216"/>
          </a:xfrm>
          <a:prstGeom prst="rect">
            <a:avLst/>
          </a:prstGeom>
          <a:noFill/>
          <a:ln/>
        </p:spPr>
        <p:txBody>
          <a:bodyPr wrap="square" rtlCol="0" anchor="ctr"/>
          <a:lstStyle/>
          <a:p>
            <a:pPr marL="0" indent="0" algn="ctr">
              <a:buNone/>
            </a:pPr>
            <a:r>
              <a:rPr lang="en-US" sz="1000" b="1" dirty="0">
                <a:solidFill>
                  <a:srgbClr val="FFC107"/>
                </a:solidFill>
                <a:latin typeface="Calibri" pitchFamily="34" charset="0"/>
                <a:ea typeface="Calibri" pitchFamily="34" charset="-122"/>
                <a:cs typeface="Calibri" pitchFamily="34" charset="-120"/>
              </a:rPr>
              <a:t>Trigger (checks Customer.license_expiry)</a:t>
            </a:r>
            <a:endParaRPr lang="en-US" sz="1000" dirty="0"/>
          </a:p>
        </p:txBody>
      </p:sp>
      <p:sp>
        <p:nvSpPr>
          <p:cNvPr id="14" name="Shape 12"/>
          <p:cNvSpPr/>
          <p:nvPr/>
        </p:nvSpPr>
        <p:spPr>
          <a:xfrm>
            <a:off x="457200" y="3520440"/>
            <a:ext cx="11247120" cy="896112"/>
          </a:xfrm>
          <a:prstGeom prst="roundRect">
            <a:avLst>
              <a:gd name="adj" fmla="val 6122"/>
            </a:avLst>
          </a:prstGeom>
          <a:solidFill>
            <a:srgbClr val="F4F6F8"/>
          </a:solidFill>
          <a:ln/>
        </p:spPr>
      </p:sp>
      <p:sp>
        <p:nvSpPr>
          <p:cNvPr id="15" name="Text 13"/>
          <p:cNvSpPr/>
          <p:nvPr/>
        </p:nvSpPr>
        <p:spPr>
          <a:xfrm>
            <a:off x="685800" y="3593592"/>
            <a:ext cx="3017520" cy="749808"/>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Return after pickup</a:t>
            </a:r>
            <a:endParaRPr lang="en-US" sz="1300" dirty="0"/>
          </a:p>
        </p:txBody>
      </p:sp>
      <p:sp>
        <p:nvSpPr>
          <p:cNvPr id="16" name="Text 14"/>
          <p:cNvSpPr/>
          <p:nvPr/>
        </p:nvSpPr>
        <p:spPr>
          <a:xfrm>
            <a:off x="3794760" y="3593592"/>
            <a:ext cx="5120640" cy="749808"/>
          </a:xfrm>
          <a:prstGeom prst="rect">
            <a:avLst/>
          </a:prstGeom>
          <a:noFill/>
          <a:ln/>
        </p:spPr>
        <p:txBody>
          <a:bodyPr wrap="square" rtlCol="0" anchor="ctr"/>
          <a:lstStyle/>
          <a:p>
            <a:pPr marL="0" indent="0">
              <a:buNone/>
            </a:pPr>
            <a:r>
              <a:rPr lang="en-US" sz="1150" dirty="0">
                <a:solidFill>
                  <a:srgbClr val="3C4450"/>
                </a:solidFill>
                <a:latin typeface="Calibri" pitchFamily="34" charset="0"/>
                <a:ea typeface="Calibri" pitchFamily="34" charset="-122"/>
                <a:cs typeface="Calibri" pitchFamily="34" charset="-120"/>
              </a:rPr>
              <a:t>actual_return_datetime must be later than pickup_datetime</a:t>
            </a:r>
            <a:endParaRPr lang="en-US" sz="1150" dirty="0"/>
          </a:p>
        </p:txBody>
      </p:sp>
      <p:sp>
        <p:nvSpPr>
          <p:cNvPr id="17" name="Shape 15"/>
          <p:cNvSpPr/>
          <p:nvPr/>
        </p:nvSpPr>
        <p:spPr>
          <a:xfrm>
            <a:off x="9098280" y="3675888"/>
            <a:ext cx="2468880" cy="585216"/>
          </a:xfrm>
          <a:prstGeom prst="roundRect">
            <a:avLst>
              <a:gd name="adj" fmla="val 9375"/>
            </a:avLst>
          </a:prstGeom>
          <a:solidFill>
            <a:srgbClr val="1B2430"/>
          </a:solidFill>
          <a:ln/>
        </p:spPr>
      </p:sp>
      <p:sp>
        <p:nvSpPr>
          <p:cNvPr id="18" name="Text 16"/>
          <p:cNvSpPr/>
          <p:nvPr/>
        </p:nvSpPr>
        <p:spPr>
          <a:xfrm>
            <a:off x="9189720" y="3675888"/>
            <a:ext cx="2286000" cy="585216"/>
          </a:xfrm>
          <a:prstGeom prst="rect">
            <a:avLst/>
          </a:prstGeom>
          <a:noFill/>
          <a:ln/>
        </p:spPr>
        <p:txBody>
          <a:bodyPr wrap="square" rtlCol="0" anchor="ctr"/>
          <a:lstStyle/>
          <a:p>
            <a:pPr marL="0" indent="0" algn="ctr">
              <a:buNone/>
            </a:pPr>
            <a:r>
              <a:rPr lang="en-US" sz="1000" b="1" dirty="0">
                <a:solidFill>
                  <a:srgbClr val="FFC107"/>
                </a:solidFill>
                <a:latin typeface="Calibri" pitchFamily="34" charset="0"/>
                <a:ea typeface="Calibri" pitchFamily="34" charset="-122"/>
                <a:cs typeface="Calibri" pitchFamily="34" charset="-120"/>
              </a:rPr>
              <a:t>CHECK constraint</a:t>
            </a:r>
            <a:endParaRPr lang="en-US" sz="1000" dirty="0"/>
          </a:p>
        </p:txBody>
      </p:sp>
      <p:sp>
        <p:nvSpPr>
          <p:cNvPr id="19" name="Shape 17"/>
          <p:cNvSpPr/>
          <p:nvPr/>
        </p:nvSpPr>
        <p:spPr>
          <a:xfrm>
            <a:off x="457200" y="4526280"/>
            <a:ext cx="11247120" cy="896112"/>
          </a:xfrm>
          <a:prstGeom prst="roundRect">
            <a:avLst>
              <a:gd name="adj" fmla="val 6122"/>
            </a:avLst>
          </a:prstGeom>
          <a:solidFill>
            <a:srgbClr val="F4F6F8"/>
          </a:solidFill>
          <a:ln/>
        </p:spPr>
      </p:sp>
      <p:sp>
        <p:nvSpPr>
          <p:cNvPr id="20" name="Text 18"/>
          <p:cNvSpPr/>
          <p:nvPr/>
        </p:nvSpPr>
        <p:spPr>
          <a:xfrm>
            <a:off x="685800" y="4599432"/>
            <a:ext cx="3017520" cy="749808"/>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Valid odometer / fuel readings</a:t>
            </a:r>
            <a:endParaRPr lang="en-US" sz="1300" dirty="0"/>
          </a:p>
        </p:txBody>
      </p:sp>
      <p:sp>
        <p:nvSpPr>
          <p:cNvPr id="21" name="Text 19"/>
          <p:cNvSpPr/>
          <p:nvPr/>
        </p:nvSpPr>
        <p:spPr>
          <a:xfrm>
            <a:off x="3794760" y="4599432"/>
            <a:ext cx="5120640" cy="749808"/>
          </a:xfrm>
          <a:prstGeom prst="rect">
            <a:avLst/>
          </a:prstGeom>
          <a:noFill/>
          <a:ln/>
        </p:spPr>
        <p:txBody>
          <a:bodyPr wrap="square" rtlCol="0" anchor="ctr"/>
          <a:lstStyle/>
          <a:p>
            <a:pPr marL="0" indent="0">
              <a:buNone/>
            </a:pPr>
            <a:r>
              <a:rPr lang="en-US" sz="1150" dirty="0">
                <a:solidFill>
                  <a:srgbClr val="3C4450"/>
                </a:solidFill>
                <a:latin typeface="Calibri" pitchFamily="34" charset="0"/>
                <a:ea typeface="Calibri" pitchFamily="34" charset="-122"/>
                <a:cs typeface="Calibri" pitchFamily="34" charset="-120"/>
              </a:rPr>
              <a:t>Return odometer ≥ pickup odometer; fuel 0–100%</a:t>
            </a:r>
            <a:endParaRPr lang="en-US" sz="1150" dirty="0"/>
          </a:p>
        </p:txBody>
      </p:sp>
      <p:sp>
        <p:nvSpPr>
          <p:cNvPr id="22" name="Shape 20"/>
          <p:cNvSpPr/>
          <p:nvPr/>
        </p:nvSpPr>
        <p:spPr>
          <a:xfrm>
            <a:off x="9098280" y="4681728"/>
            <a:ext cx="2468880" cy="585216"/>
          </a:xfrm>
          <a:prstGeom prst="roundRect">
            <a:avLst>
              <a:gd name="adj" fmla="val 9375"/>
            </a:avLst>
          </a:prstGeom>
          <a:solidFill>
            <a:srgbClr val="1B2430"/>
          </a:solidFill>
          <a:ln/>
        </p:spPr>
      </p:sp>
      <p:sp>
        <p:nvSpPr>
          <p:cNvPr id="23" name="Text 21"/>
          <p:cNvSpPr/>
          <p:nvPr/>
        </p:nvSpPr>
        <p:spPr>
          <a:xfrm>
            <a:off x="9189720" y="4681728"/>
            <a:ext cx="2286000" cy="585216"/>
          </a:xfrm>
          <a:prstGeom prst="rect">
            <a:avLst/>
          </a:prstGeom>
          <a:noFill/>
          <a:ln/>
        </p:spPr>
        <p:txBody>
          <a:bodyPr wrap="square" rtlCol="0" anchor="ctr"/>
          <a:lstStyle/>
          <a:p>
            <a:pPr marL="0" indent="0" algn="ctr">
              <a:buNone/>
            </a:pPr>
            <a:r>
              <a:rPr lang="en-US" sz="1000" b="1" dirty="0">
                <a:solidFill>
                  <a:srgbClr val="FFC107"/>
                </a:solidFill>
                <a:latin typeface="Calibri" pitchFamily="34" charset="0"/>
                <a:ea typeface="Calibri" pitchFamily="34" charset="-122"/>
                <a:cs typeface="Calibri" pitchFamily="34" charset="-120"/>
              </a:rPr>
              <a:t>CHECK + Trigger</a:t>
            </a:r>
            <a:endParaRPr lang="en-US" sz="1000" dirty="0"/>
          </a:p>
        </p:txBody>
      </p:sp>
      <p:sp>
        <p:nvSpPr>
          <p:cNvPr id="24" name="Shape 22"/>
          <p:cNvSpPr/>
          <p:nvPr/>
        </p:nvSpPr>
        <p:spPr>
          <a:xfrm>
            <a:off x="457200" y="5532120"/>
            <a:ext cx="11247120" cy="896112"/>
          </a:xfrm>
          <a:prstGeom prst="roundRect">
            <a:avLst>
              <a:gd name="adj" fmla="val 6122"/>
            </a:avLst>
          </a:prstGeom>
          <a:solidFill>
            <a:srgbClr val="F4F6F8"/>
          </a:solidFill>
          <a:ln/>
        </p:spPr>
      </p:sp>
      <p:sp>
        <p:nvSpPr>
          <p:cNvPr id="25" name="Text 23"/>
          <p:cNvSpPr/>
          <p:nvPr/>
        </p:nvSpPr>
        <p:spPr>
          <a:xfrm>
            <a:off x="685800" y="5605272"/>
            <a:ext cx="3017520" cy="749808"/>
          </a:xfrm>
          <a:prstGeom prst="rect">
            <a:avLst/>
          </a:prstGeom>
          <a:noFill/>
          <a:ln/>
        </p:spPr>
        <p:txBody>
          <a:bodyPr wrap="square" rtlCol="0" anchor="ctr"/>
          <a:lstStyle/>
          <a:p>
            <a:pPr marL="0" indent="0">
              <a:buNone/>
            </a:pPr>
            <a:r>
              <a:rPr lang="en-US" sz="1300" b="1" dirty="0">
                <a:solidFill>
                  <a:srgbClr val="1B2430"/>
                </a:solidFill>
                <a:latin typeface="Calibri" pitchFamily="34" charset="0"/>
                <a:ea typeface="Calibri" pitchFamily="34" charset="-122"/>
                <a:cs typeface="Calibri" pitchFamily="34" charset="-120"/>
              </a:rPr>
              <a:t>Non-negative charges</a:t>
            </a:r>
            <a:endParaRPr lang="en-US" sz="1300" dirty="0"/>
          </a:p>
        </p:txBody>
      </p:sp>
      <p:sp>
        <p:nvSpPr>
          <p:cNvPr id="26" name="Text 24"/>
          <p:cNvSpPr/>
          <p:nvPr/>
        </p:nvSpPr>
        <p:spPr>
          <a:xfrm>
            <a:off x="3794760" y="5605272"/>
            <a:ext cx="5120640" cy="749808"/>
          </a:xfrm>
          <a:prstGeom prst="rect">
            <a:avLst/>
          </a:prstGeom>
          <a:noFill/>
          <a:ln/>
        </p:spPr>
        <p:txBody>
          <a:bodyPr wrap="square" rtlCol="0" anchor="ctr"/>
          <a:lstStyle/>
          <a:p>
            <a:pPr marL="0" indent="0">
              <a:buNone/>
            </a:pPr>
            <a:r>
              <a:rPr lang="en-US" sz="1150" dirty="0">
                <a:solidFill>
                  <a:srgbClr val="3C4450"/>
                </a:solidFill>
                <a:latin typeface="Calibri" pitchFamily="34" charset="0"/>
                <a:ea typeface="Calibri" pitchFamily="34" charset="-122"/>
                <a:cs typeface="Calibri" pitchFamily="34" charset="-120"/>
              </a:rPr>
              <a:t>All amounts on Invoice / Payment must be ≥ 0</a:t>
            </a:r>
            <a:endParaRPr lang="en-US" sz="1150" dirty="0"/>
          </a:p>
        </p:txBody>
      </p:sp>
      <p:sp>
        <p:nvSpPr>
          <p:cNvPr id="27" name="Shape 25"/>
          <p:cNvSpPr/>
          <p:nvPr/>
        </p:nvSpPr>
        <p:spPr>
          <a:xfrm>
            <a:off x="9098280" y="5687568"/>
            <a:ext cx="2468880" cy="585216"/>
          </a:xfrm>
          <a:prstGeom prst="roundRect">
            <a:avLst>
              <a:gd name="adj" fmla="val 9375"/>
            </a:avLst>
          </a:prstGeom>
          <a:solidFill>
            <a:srgbClr val="1B2430"/>
          </a:solidFill>
          <a:ln/>
        </p:spPr>
      </p:sp>
      <p:sp>
        <p:nvSpPr>
          <p:cNvPr id="28" name="Text 26"/>
          <p:cNvSpPr/>
          <p:nvPr/>
        </p:nvSpPr>
        <p:spPr>
          <a:xfrm>
            <a:off x="9189720" y="5687568"/>
            <a:ext cx="2286000" cy="585216"/>
          </a:xfrm>
          <a:prstGeom prst="rect">
            <a:avLst/>
          </a:prstGeom>
          <a:noFill/>
          <a:ln/>
        </p:spPr>
        <p:txBody>
          <a:bodyPr wrap="square" rtlCol="0" anchor="ctr"/>
          <a:lstStyle/>
          <a:p>
            <a:pPr marL="0" indent="0" algn="ctr">
              <a:buNone/>
            </a:pPr>
            <a:r>
              <a:rPr lang="en-US" sz="1000" b="1" dirty="0">
                <a:solidFill>
                  <a:srgbClr val="FFC107"/>
                </a:solidFill>
                <a:latin typeface="Calibri" pitchFamily="34" charset="0"/>
                <a:ea typeface="Calibri" pitchFamily="34" charset="-122"/>
                <a:cs typeface="Calibri" pitchFamily="34" charset="-120"/>
              </a:rPr>
              <a:t>CHECK constraint</a:t>
            </a:r>
            <a:endParaRPr lang="en-US" sz="1000" dirty="0"/>
          </a:p>
        </p:txBody>
      </p:sp>
      <p:sp>
        <p:nvSpPr>
          <p:cNvPr id="29" name="Text 27"/>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30" name="Text 28"/>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FROM ER TO RELATIONS</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Initial Relational Schema</a:t>
            </a:r>
            <a:endParaRPr lang="en-US" sz="2600" dirty="0"/>
          </a:p>
        </p:txBody>
      </p:sp>
      <p:sp>
        <p:nvSpPr>
          <p:cNvPr id="4" name="Shape 2"/>
          <p:cNvSpPr/>
          <p:nvPr/>
        </p:nvSpPr>
        <p:spPr>
          <a:xfrm>
            <a:off x="457200" y="1417320"/>
            <a:ext cx="11247120" cy="4434840"/>
          </a:xfrm>
          <a:prstGeom prst="roundRect">
            <a:avLst>
              <a:gd name="adj" fmla="val 1237"/>
            </a:avLst>
          </a:prstGeom>
          <a:solidFill>
            <a:srgbClr val="1B2430"/>
          </a:solidFill>
          <a:ln/>
        </p:spPr>
      </p:sp>
      <p:sp>
        <p:nvSpPr>
          <p:cNvPr id="5" name="Text 3"/>
          <p:cNvSpPr/>
          <p:nvPr/>
        </p:nvSpPr>
        <p:spPr>
          <a:xfrm>
            <a:off x="777240" y="1664208"/>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Branch(branch_id PK, branch_name, city, address, phone)</a:t>
            </a:r>
            <a:endParaRPr lang="en-US" sz="1250" dirty="0"/>
          </a:p>
        </p:txBody>
      </p:sp>
      <p:sp>
        <p:nvSpPr>
          <p:cNvPr id="6" name="Text 4"/>
          <p:cNvSpPr/>
          <p:nvPr/>
        </p:nvSpPr>
        <p:spPr>
          <a:xfrm>
            <a:off x="777240" y="2043684"/>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VehicleCategory(category_id PK, category_name, description)</a:t>
            </a:r>
            <a:endParaRPr lang="en-US" sz="1250" dirty="0"/>
          </a:p>
        </p:txBody>
      </p:sp>
      <p:sp>
        <p:nvSpPr>
          <p:cNvPr id="7" name="Text 5"/>
          <p:cNvSpPr/>
          <p:nvPr/>
        </p:nvSpPr>
        <p:spPr>
          <a:xfrm>
            <a:off x="777240" y="2423160"/>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Vehicle(vehicle_id PK, registration_no UK, category_id FK, branch_id FK, ..., status)</a:t>
            </a:r>
            <a:endParaRPr lang="en-US" sz="1250" dirty="0"/>
          </a:p>
        </p:txBody>
      </p:sp>
      <p:sp>
        <p:nvSpPr>
          <p:cNvPr id="8" name="Text 6"/>
          <p:cNvSpPr/>
          <p:nvPr/>
        </p:nvSpPr>
        <p:spPr>
          <a:xfrm>
            <a:off x="777240" y="2802636"/>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Customer(customer_id PK, full_name, phone UK, license_no UK, license_expiry, ...)</a:t>
            </a:r>
            <a:endParaRPr lang="en-US" sz="1250" dirty="0"/>
          </a:p>
        </p:txBody>
      </p:sp>
      <p:sp>
        <p:nvSpPr>
          <p:cNvPr id="9" name="Text 7"/>
          <p:cNvSpPr/>
          <p:nvPr/>
        </p:nvSpPr>
        <p:spPr>
          <a:xfrm>
            <a:off x="777240" y="3182112"/>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RatePlan(rate_plan_id PK, category_id FK, daily_rate, extra_km_rate, late_fee_per_hour)</a:t>
            </a:r>
            <a:endParaRPr lang="en-US" sz="1250" dirty="0"/>
          </a:p>
        </p:txBody>
      </p:sp>
      <p:sp>
        <p:nvSpPr>
          <p:cNvPr id="10" name="Text 8"/>
          <p:cNvSpPr/>
          <p:nvPr/>
        </p:nvSpPr>
        <p:spPr>
          <a:xfrm>
            <a:off x="777240" y="3561588"/>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Reservation(reservation_id PK, customer_id FK, category_id FK, pickup_branch_id FK, return_branch_id FK, ...)</a:t>
            </a:r>
            <a:endParaRPr lang="en-US" sz="1250" dirty="0"/>
          </a:p>
        </p:txBody>
      </p:sp>
      <p:sp>
        <p:nvSpPr>
          <p:cNvPr id="11" name="Text 9"/>
          <p:cNvSpPr/>
          <p:nvPr/>
        </p:nvSpPr>
        <p:spPr>
          <a:xfrm>
            <a:off x="777240" y="3941064"/>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Rental(rental_id PK, reservation_id FK, vehicle_id FK, customer_id FK, rate_plan_id FK, ...)</a:t>
            </a:r>
            <a:endParaRPr lang="en-US" sz="1250" dirty="0"/>
          </a:p>
        </p:txBody>
      </p:sp>
      <p:sp>
        <p:nvSpPr>
          <p:cNvPr id="12" name="Text 10"/>
          <p:cNvSpPr/>
          <p:nvPr/>
        </p:nvSpPr>
        <p:spPr>
          <a:xfrm>
            <a:off x="777240" y="4320540"/>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Inspection(inspection_id PK, rental_id FK, inspection_type, odometer_reading, fuel_level_percent, ...)</a:t>
            </a:r>
            <a:endParaRPr lang="en-US" sz="1250" dirty="0"/>
          </a:p>
        </p:txBody>
      </p:sp>
      <p:sp>
        <p:nvSpPr>
          <p:cNvPr id="13" name="Text 11"/>
          <p:cNvSpPr/>
          <p:nvPr/>
        </p:nvSpPr>
        <p:spPr>
          <a:xfrm>
            <a:off x="777240" y="4700016"/>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Damage(damage_id PK, rental_id FK, inspection_id FK, description, repair_cost, charged_amount)</a:t>
            </a:r>
            <a:endParaRPr lang="en-US" sz="1250" dirty="0"/>
          </a:p>
        </p:txBody>
      </p:sp>
      <p:sp>
        <p:nvSpPr>
          <p:cNvPr id="14" name="Text 12"/>
          <p:cNvSpPr/>
          <p:nvPr/>
        </p:nvSpPr>
        <p:spPr>
          <a:xfrm>
            <a:off x="777240" y="5079492"/>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Invoice(invoice_id PK, rental_id FK UK, base_charge, extra_km_charge, late_fee, total_amount)</a:t>
            </a:r>
            <a:endParaRPr lang="en-US" sz="1250" dirty="0"/>
          </a:p>
        </p:txBody>
      </p:sp>
      <p:sp>
        <p:nvSpPr>
          <p:cNvPr id="15" name="Text 13"/>
          <p:cNvSpPr/>
          <p:nvPr/>
        </p:nvSpPr>
        <p:spPr>
          <a:xfrm>
            <a:off x="777240" y="5458968"/>
            <a:ext cx="10607040" cy="365760"/>
          </a:xfrm>
          <a:prstGeom prst="rect">
            <a:avLst/>
          </a:prstGeom>
          <a:noFill/>
          <a:ln/>
        </p:spPr>
        <p:txBody>
          <a:bodyPr wrap="square" rtlCol="0" anchor="ctr"/>
          <a:lstStyle/>
          <a:p>
            <a:pPr marL="0" indent="0">
              <a:buNone/>
            </a:pPr>
            <a:r>
              <a:rPr lang="en-US" sz="1250" dirty="0">
                <a:solidFill>
                  <a:srgbClr val="C9CED6"/>
                </a:solidFill>
                <a:latin typeface="Courier New" pitchFamily="34" charset="0"/>
                <a:ea typeface="Courier New" pitchFamily="34" charset="-122"/>
                <a:cs typeface="Courier New" pitchFamily="34" charset="-120"/>
              </a:rPr>
              <a:t>Payment(payment_id PK, invoice_id FK, amount, payment_mode, transaction_ref)</a:t>
            </a:r>
            <a:endParaRPr lang="en-US" sz="1250" dirty="0"/>
          </a:p>
        </p:txBody>
      </p:sp>
      <p:sp>
        <p:nvSpPr>
          <p:cNvPr id="16" name="Text 14"/>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17" name="Text 15"/>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84048"/>
            <a:ext cx="5486400" cy="292608"/>
          </a:xfrm>
          <a:prstGeom prst="rect">
            <a:avLst/>
          </a:prstGeom>
          <a:noFill/>
          <a:ln/>
        </p:spPr>
        <p:txBody>
          <a:bodyPr wrap="square" rtlCol="0" anchor="ctr"/>
          <a:lstStyle/>
          <a:p>
            <a:pPr marL="0" indent="0">
              <a:buNone/>
            </a:pPr>
            <a:r>
              <a:rPr lang="en-US" sz="1200" b="1" kern="0" spc="200" dirty="0">
                <a:solidFill>
                  <a:srgbClr val="FFC107"/>
                </a:solidFill>
                <a:latin typeface="Calibri" pitchFamily="34" charset="0"/>
                <a:ea typeface="Calibri" pitchFamily="34" charset="-122"/>
                <a:cs typeface="Calibri" pitchFamily="34" charset="-120"/>
              </a:rPr>
              <a:t>STATUS</a:t>
            </a:r>
            <a:endParaRPr lang="en-US" sz="1200" dirty="0"/>
          </a:p>
        </p:txBody>
      </p:sp>
      <p:sp>
        <p:nvSpPr>
          <p:cNvPr id="3" name="Text 1"/>
          <p:cNvSpPr/>
          <p:nvPr/>
        </p:nvSpPr>
        <p:spPr>
          <a:xfrm>
            <a:off x="457200" y="658368"/>
            <a:ext cx="10515600" cy="640080"/>
          </a:xfrm>
          <a:prstGeom prst="rect">
            <a:avLst/>
          </a:prstGeom>
          <a:noFill/>
          <a:ln/>
        </p:spPr>
        <p:txBody>
          <a:bodyPr wrap="square" rtlCol="0" anchor="ctr"/>
          <a:lstStyle/>
          <a:p>
            <a:pPr marL="0" indent="0">
              <a:buNone/>
            </a:pPr>
            <a:r>
              <a:rPr lang="en-US" sz="2600" b="1" dirty="0">
                <a:solidFill>
                  <a:srgbClr val="1B2430"/>
                </a:solidFill>
                <a:latin typeface="Cambria" pitchFamily="34" charset="0"/>
                <a:ea typeface="Cambria" pitchFamily="34" charset="-122"/>
                <a:cs typeface="Cambria" pitchFamily="34" charset="-120"/>
              </a:rPr>
              <a:t>Review 1 Deliverables — Complete</a:t>
            </a:r>
            <a:endParaRPr lang="en-US" sz="2600" dirty="0"/>
          </a:p>
        </p:txBody>
      </p:sp>
      <p:sp>
        <p:nvSpPr>
          <p:cNvPr id="4" name="Shape 2"/>
          <p:cNvSpPr/>
          <p:nvPr/>
        </p:nvSpPr>
        <p:spPr>
          <a:xfrm>
            <a:off x="457200" y="1737360"/>
            <a:ext cx="11247120" cy="914400"/>
          </a:xfrm>
          <a:prstGeom prst="roundRect">
            <a:avLst>
              <a:gd name="adj" fmla="val 6000"/>
            </a:avLst>
          </a:prstGeom>
          <a:solidFill>
            <a:srgbClr val="F4F6F8"/>
          </a:solidFill>
          <a:ln/>
        </p:spPr>
      </p:sp>
      <p:sp>
        <p:nvSpPr>
          <p:cNvPr id="5" name="Shape 3"/>
          <p:cNvSpPr/>
          <p:nvPr/>
        </p:nvSpPr>
        <p:spPr>
          <a:xfrm>
            <a:off x="685800" y="1938528"/>
            <a:ext cx="502920" cy="502920"/>
          </a:xfrm>
          <a:prstGeom prst="ellipse">
            <a:avLst/>
          </a:prstGeom>
          <a:solidFill>
            <a:srgbClr val="1B2430"/>
          </a:solidFill>
          <a:ln/>
        </p:spPr>
      </p:sp>
      <p:sp>
        <p:nvSpPr>
          <p:cNvPr id="6" name="Text 4"/>
          <p:cNvSpPr/>
          <p:nvPr/>
        </p:nvSpPr>
        <p:spPr>
          <a:xfrm>
            <a:off x="685800" y="1920240"/>
            <a:ext cx="502920" cy="502920"/>
          </a:xfrm>
          <a:prstGeom prst="rect">
            <a:avLst/>
          </a:prstGeom>
          <a:noFill/>
          <a:ln/>
        </p:spPr>
        <p:txBody>
          <a:bodyPr wrap="square" rtlCol="0" anchor="ctr"/>
          <a:lstStyle/>
          <a:p>
            <a:pPr marL="0" indent="0" algn="ctr">
              <a:buNone/>
            </a:pPr>
            <a:r>
              <a:rPr lang="en-US" sz="1815" b="1" dirty="0">
                <a:solidFill>
                  <a:srgbClr val="FFC107"/>
                </a:solidFill>
                <a:latin typeface="Calibri" pitchFamily="34" charset="0"/>
                <a:ea typeface="Calibri" pitchFamily="34" charset="-122"/>
                <a:cs typeface="Calibri" pitchFamily="34" charset="-120"/>
              </a:rPr>
              <a:t>✓</a:t>
            </a:r>
            <a:endParaRPr lang="en-US" sz="1815" dirty="0"/>
          </a:p>
        </p:txBody>
      </p:sp>
      <p:sp>
        <p:nvSpPr>
          <p:cNvPr id="7" name="Text 5"/>
          <p:cNvSpPr/>
          <p:nvPr/>
        </p:nvSpPr>
        <p:spPr>
          <a:xfrm>
            <a:off x="1417320" y="1737360"/>
            <a:ext cx="9966960" cy="91440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Problem identification, scope, objectives, users and functional requirements</a:t>
            </a:r>
            <a:endParaRPr lang="en-US" sz="1400" dirty="0"/>
          </a:p>
        </p:txBody>
      </p:sp>
      <p:sp>
        <p:nvSpPr>
          <p:cNvPr id="8" name="Shape 6"/>
          <p:cNvSpPr/>
          <p:nvPr/>
        </p:nvSpPr>
        <p:spPr>
          <a:xfrm>
            <a:off x="457200" y="2880360"/>
            <a:ext cx="11247120" cy="914400"/>
          </a:xfrm>
          <a:prstGeom prst="roundRect">
            <a:avLst>
              <a:gd name="adj" fmla="val 6000"/>
            </a:avLst>
          </a:prstGeom>
          <a:solidFill>
            <a:srgbClr val="F4F6F8"/>
          </a:solidFill>
          <a:ln/>
        </p:spPr>
      </p:sp>
      <p:sp>
        <p:nvSpPr>
          <p:cNvPr id="9" name="Shape 7"/>
          <p:cNvSpPr/>
          <p:nvPr/>
        </p:nvSpPr>
        <p:spPr>
          <a:xfrm>
            <a:off x="685800" y="3081528"/>
            <a:ext cx="502920" cy="502920"/>
          </a:xfrm>
          <a:prstGeom prst="ellipse">
            <a:avLst/>
          </a:prstGeom>
          <a:solidFill>
            <a:srgbClr val="1B2430"/>
          </a:solidFill>
          <a:ln/>
        </p:spPr>
      </p:sp>
      <p:sp>
        <p:nvSpPr>
          <p:cNvPr id="10" name="Text 8"/>
          <p:cNvSpPr/>
          <p:nvPr/>
        </p:nvSpPr>
        <p:spPr>
          <a:xfrm>
            <a:off x="685800" y="3063240"/>
            <a:ext cx="502920" cy="502920"/>
          </a:xfrm>
          <a:prstGeom prst="rect">
            <a:avLst/>
          </a:prstGeom>
          <a:noFill/>
          <a:ln/>
        </p:spPr>
        <p:txBody>
          <a:bodyPr wrap="square" rtlCol="0" anchor="ctr"/>
          <a:lstStyle/>
          <a:p>
            <a:pPr marL="0" indent="0" algn="ctr">
              <a:buNone/>
            </a:pPr>
            <a:r>
              <a:rPr lang="en-US" sz="1815" b="1" dirty="0">
                <a:solidFill>
                  <a:srgbClr val="FFC107"/>
                </a:solidFill>
                <a:latin typeface="Calibri" pitchFamily="34" charset="0"/>
                <a:ea typeface="Calibri" pitchFamily="34" charset="-122"/>
                <a:cs typeface="Calibri" pitchFamily="34" charset="-120"/>
              </a:rPr>
              <a:t>✓</a:t>
            </a:r>
            <a:endParaRPr lang="en-US" sz="1815" dirty="0"/>
          </a:p>
        </p:txBody>
      </p:sp>
      <p:sp>
        <p:nvSpPr>
          <p:cNvPr id="11" name="Text 9"/>
          <p:cNvSpPr/>
          <p:nvPr/>
        </p:nvSpPr>
        <p:spPr>
          <a:xfrm>
            <a:off x="1417320" y="2880360"/>
            <a:ext cx="9966960" cy="91440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Conceptual design / ER diagram covering all 11 principal entities</a:t>
            </a:r>
            <a:endParaRPr lang="en-US" sz="1400" dirty="0"/>
          </a:p>
        </p:txBody>
      </p:sp>
      <p:sp>
        <p:nvSpPr>
          <p:cNvPr id="12" name="Shape 10"/>
          <p:cNvSpPr/>
          <p:nvPr/>
        </p:nvSpPr>
        <p:spPr>
          <a:xfrm>
            <a:off x="457200" y="4023360"/>
            <a:ext cx="11247120" cy="914400"/>
          </a:xfrm>
          <a:prstGeom prst="roundRect">
            <a:avLst>
              <a:gd name="adj" fmla="val 6000"/>
            </a:avLst>
          </a:prstGeom>
          <a:solidFill>
            <a:srgbClr val="F4F6F8"/>
          </a:solidFill>
          <a:ln/>
        </p:spPr>
      </p:sp>
      <p:sp>
        <p:nvSpPr>
          <p:cNvPr id="13" name="Shape 11"/>
          <p:cNvSpPr/>
          <p:nvPr/>
        </p:nvSpPr>
        <p:spPr>
          <a:xfrm>
            <a:off x="685800" y="4224528"/>
            <a:ext cx="502920" cy="502920"/>
          </a:xfrm>
          <a:prstGeom prst="ellipse">
            <a:avLst/>
          </a:prstGeom>
          <a:solidFill>
            <a:srgbClr val="1B2430"/>
          </a:solidFill>
          <a:ln/>
        </p:spPr>
      </p:sp>
      <p:sp>
        <p:nvSpPr>
          <p:cNvPr id="14" name="Text 12"/>
          <p:cNvSpPr/>
          <p:nvPr/>
        </p:nvSpPr>
        <p:spPr>
          <a:xfrm>
            <a:off x="685800" y="4206240"/>
            <a:ext cx="502920" cy="502920"/>
          </a:xfrm>
          <a:prstGeom prst="rect">
            <a:avLst/>
          </a:prstGeom>
          <a:noFill/>
          <a:ln/>
        </p:spPr>
        <p:txBody>
          <a:bodyPr wrap="square" rtlCol="0" anchor="ctr"/>
          <a:lstStyle/>
          <a:p>
            <a:pPr marL="0" indent="0" algn="ctr">
              <a:buNone/>
            </a:pPr>
            <a:r>
              <a:rPr lang="en-US" sz="1815" b="1" dirty="0">
                <a:solidFill>
                  <a:srgbClr val="FFC107"/>
                </a:solidFill>
                <a:latin typeface="Calibri" pitchFamily="34" charset="0"/>
                <a:ea typeface="Calibri" pitchFamily="34" charset="-122"/>
                <a:cs typeface="Calibri" pitchFamily="34" charset="-120"/>
              </a:rPr>
              <a:t>✓</a:t>
            </a:r>
            <a:endParaRPr lang="en-US" sz="1815" dirty="0"/>
          </a:p>
        </p:txBody>
      </p:sp>
      <p:sp>
        <p:nvSpPr>
          <p:cNvPr id="15" name="Text 13"/>
          <p:cNvSpPr/>
          <p:nvPr/>
        </p:nvSpPr>
        <p:spPr>
          <a:xfrm>
            <a:off x="1417320" y="4023360"/>
            <a:ext cx="9966960" cy="914400"/>
          </a:xfrm>
          <a:prstGeom prst="rect">
            <a:avLst/>
          </a:prstGeom>
          <a:noFill/>
          <a:ln/>
        </p:spPr>
        <p:txBody>
          <a:bodyPr wrap="square" rtlCol="0" anchor="ctr"/>
          <a:lstStyle/>
          <a:p>
            <a:pPr marL="0" indent="0">
              <a:buNone/>
            </a:pPr>
            <a:r>
              <a:rPr lang="en-US" sz="1400" dirty="0">
                <a:solidFill>
                  <a:srgbClr val="1B2430"/>
                </a:solidFill>
                <a:latin typeface="Calibri" pitchFamily="34" charset="0"/>
                <a:ea typeface="Calibri" pitchFamily="34" charset="-122"/>
                <a:cs typeface="Calibri" pitchFamily="34" charset="-120"/>
              </a:rPr>
              <a:t>Initial relational schema with proposed tables, primary keys and relationships</a:t>
            </a:r>
            <a:endParaRPr lang="en-US" sz="1400" dirty="0"/>
          </a:p>
        </p:txBody>
      </p:sp>
      <p:sp>
        <p:nvSpPr>
          <p:cNvPr id="16" name="Text 14"/>
          <p:cNvSpPr/>
          <p:nvPr/>
        </p:nvSpPr>
        <p:spPr>
          <a:xfrm>
            <a:off x="457200" y="5486400"/>
            <a:ext cx="11247120" cy="457200"/>
          </a:xfrm>
          <a:prstGeom prst="rect">
            <a:avLst/>
          </a:prstGeom>
          <a:noFill/>
          <a:ln/>
        </p:spPr>
        <p:txBody>
          <a:bodyPr wrap="square" rtlCol="0" anchor="ctr"/>
          <a:lstStyle/>
          <a:p>
            <a:pPr marL="0" indent="0">
              <a:buNone/>
            </a:pPr>
            <a:r>
              <a:rPr lang="en-US" sz="1250" i="1" dirty="0">
                <a:solidFill>
                  <a:srgbClr val="7A8290"/>
                </a:solidFill>
                <a:latin typeface="Calibri" pitchFamily="34" charset="0"/>
                <a:ea typeface="Calibri" pitchFamily="34" charset="-122"/>
                <a:cs typeface="Calibri" pitchFamily="34" charset="-120"/>
              </a:rPr>
              <a:t>Next: Review 2 — normalize to 3NF, write DDL with constraints, load sample data, and build reporting queries/views.</a:t>
            </a:r>
            <a:endParaRPr lang="en-US" sz="1250" dirty="0"/>
          </a:p>
        </p:txBody>
      </p:sp>
      <p:sp>
        <p:nvSpPr>
          <p:cNvPr id="17" name="Text 15"/>
          <p:cNvSpPr/>
          <p:nvPr/>
        </p:nvSpPr>
        <p:spPr>
          <a:xfrm>
            <a:off x="457200" y="6510528"/>
            <a:ext cx="8229600" cy="274320"/>
          </a:xfrm>
          <a:prstGeom prst="rect">
            <a:avLst/>
          </a:prstGeom>
          <a:noFill/>
          <a:ln/>
        </p:spPr>
        <p:txBody>
          <a:bodyPr wrap="square" rtlCol="0" anchor="ctr"/>
          <a:lstStyle/>
          <a:p>
            <a:pPr marL="0" indent="0">
              <a:buNone/>
            </a:pPr>
            <a:r>
              <a:rPr lang="en-US" sz="900" dirty="0">
                <a:solidFill>
                  <a:srgbClr val="7A8290"/>
                </a:solidFill>
                <a:latin typeface="Calibri" pitchFamily="34" charset="0"/>
                <a:ea typeface="Calibri" pitchFamily="34" charset="-122"/>
                <a:cs typeface="Calibri" pitchFamily="34" charset="-120"/>
              </a:rPr>
              <a:t>Car Rental Reservation &amp; Vehicle Return Management System  |  Review 1</a:t>
            </a:r>
            <a:endParaRPr lang="en-US" sz="900" dirty="0"/>
          </a:p>
        </p:txBody>
      </p:sp>
      <p:sp>
        <p:nvSpPr>
          <p:cNvPr id="18" name="Text 16"/>
          <p:cNvSpPr/>
          <p:nvPr/>
        </p:nvSpPr>
        <p:spPr>
          <a:xfrm>
            <a:off x="11274552" y="6510528"/>
            <a:ext cx="457200" cy="274320"/>
          </a:xfrm>
          <a:prstGeom prst="rect">
            <a:avLst/>
          </a:prstGeom>
          <a:noFill/>
          <a:ln/>
        </p:spPr>
        <p:txBody>
          <a:bodyPr wrap="square" rtlCol="0" anchor="ctr"/>
          <a:lstStyle/>
          <a:p>
            <a:pPr marL="0" indent="0" algn="r">
              <a:buNone/>
            </a:pPr>
            <a:r>
              <a:rPr lang="en-US" sz="900" dirty="0">
                <a:solidFill>
                  <a:srgbClr val="7A829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430"/>
        </a:solidFill>
        <a:effectLst/>
      </p:bgPr>
    </p:bg>
    <p:spTree>
      <p:nvGrpSpPr>
        <p:cNvPr id="1" name=""/>
        <p:cNvGrpSpPr/>
        <p:nvPr/>
      </p:nvGrpSpPr>
      <p:grpSpPr>
        <a:xfrm>
          <a:off x="0" y="0"/>
          <a:ext cx="0" cy="0"/>
          <a:chOff x="0" y="0"/>
          <a:chExt cx="0" cy="0"/>
        </a:xfrm>
      </p:grpSpPr>
      <p:sp>
        <p:nvSpPr>
          <p:cNvPr id="2" name="Shape 0"/>
          <p:cNvSpPr/>
          <p:nvPr/>
        </p:nvSpPr>
        <p:spPr>
          <a:xfrm>
            <a:off x="5088636" y="1371600"/>
            <a:ext cx="2011680" cy="2011680"/>
          </a:xfrm>
          <a:prstGeom prst="ellipse">
            <a:avLst/>
          </a:prstGeom>
          <a:solidFill>
            <a:srgbClr val="FFC107"/>
          </a:solidFill>
          <a:ln/>
        </p:spPr>
      </p:sp>
      <p:sp>
        <p:nvSpPr>
          <p:cNvPr id="3" name="Shape 1"/>
          <p:cNvSpPr/>
          <p:nvPr/>
        </p:nvSpPr>
        <p:spPr>
          <a:xfrm>
            <a:off x="5465826" y="2307031"/>
            <a:ext cx="1257300" cy="502920"/>
          </a:xfrm>
          <a:prstGeom prst="roundRect">
            <a:avLst>
              <a:gd name="adj" fmla="val 10909"/>
            </a:avLst>
          </a:prstGeom>
          <a:solidFill>
            <a:srgbClr val="1B2430"/>
          </a:solidFill>
          <a:ln/>
        </p:spPr>
      </p:sp>
      <p:sp>
        <p:nvSpPr>
          <p:cNvPr id="4" name="Shape 2"/>
          <p:cNvSpPr/>
          <p:nvPr/>
        </p:nvSpPr>
        <p:spPr>
          <a:xfrm>
            <a:off x="5748719" y="2050542"/>
            <a:ext cx="691515" cy="427482"/>
          </a:xfrm>
          <a:prstGeom prst="roundRect">
            <a:avLst>
              <a:gd name="adj" fmla="val 10695"/>
            </a:avLst>
          </a:prstGeom>
          <a:solidFill>
            <a:srgbClr val="1B2430"/>
          </a:solidFill>
          <a:ln/>
        </p:spPr>
      </p:sp>
      <p:sp>
        <p:nvSpPr>
          <p:cNvPr id="5" name="Shape 3"/>
          <p:cNvSpPr/>
          <p:nvPr/>
        </p:nvSpPr>
        <p:spPr>
          <a:xfrm>
            <a:off x="5505054" y="2649017"/>
            <a:ext cx="261518" cy="261518"/>
          </a:xfrm>
          <a:prstGeom prst="ellipse">
            <a:avLst/>
          </a:prstGeom>
          <a:solidFill>
            <a:srgbClr val="1B2430"/>
          </a:solidFill>
          <a:ln/>
        </p:spPr>
      </p:sp>
      <p:sp>
        <p:nvSpPr>
          <p:cNvPr id="6" name="Shape 4"/>
          <p:cNvSpPr/>
          <p:nvPr/>
        </p:nvSpPr>
        <p:spPr>
          <a:xfrm>
            <a:off x="6422380" y="2649017"/>
            <a:ext cx="261518" cy="261518"/>
          </a:xfrm>
          <a:prstGeom prst="ellipse">
            <a:avLst/>
          </a:prstGeom>
          <a:solidFill>
            <a:srgbClr val="1B2430"/>
          </a:solidFill>
          <a:ln/>
        </p:spPr>
      </p:sp>
      <p:sp>
        <p:nvSpPr>
          <p:cNvPr id="7" name="Text 5"/>
          <p:cNvSpPr/>
          <p:nvPr/>
        </p:nvSpPr>
        <p:spPr>
          <a:xfrm>
            <a:off x="0" y="3566160"/>
            <a:ext cx="12188952" cy="82296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8" name="Text 6"/>
          <p:cNvSpPr/>
          <p:nvPr/>
        </p:nvSpPr>
        <p:spPr>
          <a:xfrm>
            <a:off x="0" y="4297680"/>
            <a:ext cx="12188952" cy="457200"/>
          </a:xfrm>
          <a:prstGeom prst="rect">
            <a:avLst/>
          </a:prstGeom>
          <a:noFill/>
          <a:ln/>
        </p:spPr>
        <p:txBody>
          <a:bodyPr wrap="square" rtlCol="0" anchor="ctr"/>
          <a:lstStyle/>
          <a:p>
            <a:pPr marL="0" indent="0" algn="ctr">
              <a:buNone/>
            </a:pPr>
            <a:r>
              <a:rPr lang="en-US" sz="1600" i="1" dirty="0">
                <a:solidFill>
                  <a:srgbClr val="C9CED6"/>
                </a:solidFill>
                <a:latin typeface="Calibri" pitchFamily="34" charset="0"/>
                <a:ea typeface="Calibri" pitchFamily="34" charset="-122"/>
                <a:cs typeface="Calibri" pitchFamily="34" charset="-120"/>
              </a:rPr>
              <a:t>Questions &amp; Discussion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1717</Words>
  <Application>Microsoft Office PowerPoint</Application>
  <PresentationFormat>Widescreen</PresentationFormat>
  <Paragraphs>196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Mithul Koneri (B.Tech_2029)</cp:lastModifiedBy>
  <cp:revision>2</cp:revision>
  <dcterms:created xsi:type="dcterms:W3CDTF">2026-08-22T05:42:40Z</dcterms:created>
  <dcterms:modified xsi:type="dcterms:W3CDTF">2026-08-22T05:48:50Z</dcterms:modified>
</cp:coreProperties>
</file>